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98d68183b044c9" /><Relationship Type="http://schemas.openxmlformats.org/officeDocument/2006/relationships/extended-properties" Target="/docProps/app.xml" Id="R6aa694570e8e4298" /><Relationship Type="http://schemas.openxmlformats.org/officeDocument/2006/relationships/officeDocument" Target="/ppt/presentation.xml" Id="R8ea921156a00426a" /></Relationships>
</file>

<file path=ppt/presentation.xml><?xml version="1.0" encoding="utf-8"?>
<p:presentation xmlns:p="http://schemas.openxmlformats.org/presentationml/2006/main">
  <p:sldMasterIdLst>
    <p:sldMasterId xmlns:r="http://schemas.openxmlformats.org/officeDocument/2006/relationships" id="2147483648" r:id="R9c51403e7d3e4002"/>
  </p:sldMasterIdLst>
  <p:notesMasterIdLst>
    <p:notesMasterId xmlns:r="http://schemas.openxmlformats.org/officeDocument/2006/relationships" r:id="R9c2c606bcaeb41c4"/>
  </p:notesMasterIdLst>
  <p:sldIdLst>
    <p:sldId xmlns:r="http://schemas.openxmlformats.org/officeDocument/2006/relationships" id="256" r:id="Rfa1028a0df524c6a"/>
    <p:sldId xmlns:r="http://schemas.openxmlformats.org/officeDocument/2006/relationships" id="257" r:id="Rea804777eafa46b0"/>
    <p:sldId xmlns:r="http://schemas.openxmlformats.org/officeDocument/2006/relationships" id="258" r:id="Ra15616560b454249"/>
    <p:sldId xmlns:r="http://schemas.openxmlformats.org/officeDocument/2006/relationships" id="259" r:id="R7a93cac80e934f93"/>
    <p:sldId xmlns:r="http://schemas.openxmlformats.org/officeDocument/2006/relationships" id="260" r:id="R69705a77c7d7430e"/>
    <p:sldId xmlns:r="http://schemas.openxmlformats.org/officeDocument/2006/relationships" id="261" r:id="R53d7f8d807b645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f6d2c8d3dc4481" /><Relationship Type="http://schemas.openxmlformats.org/officeDocument/2006/relationships/slideMaster" Target="/ppt/slideMasters/slideMaster1.xml" Id="R9c51403e7d3e4002" /><Relationship Type="http://schemas.openxmlformats.org/officeDocument/2006/relationships/notesMaster" Target="/ppt/notesMasters/notesMaster1.xml" Id="R9c2c606bcaeb41c4" /><Relationship Type="http://schemas.openxmlformats.org/officeDocument/2006/relationships/presProps" Target="/ppt/presProps.xml" Id="Re10be8cefec647ee" /><Relationship Type="http://schemas.openxmlformats.org/officeDocument/2006/relationships/tableStyles" Target="/ppt/tableStyles.xml" Id="R420c24ae16ae43b7" /><Relationship Type="http://schemas.openxmlformats.org/officeDocument/2006/relationships/slide" Target="/ppt/slides/slide1.xml" Id="Rfa1028a0df524c6a" /><Relationship Type="http://schemas.openxmlformats.org/officeDocument/2006/relationships/slide" Target="/ppt/slides/slide2.xml" Id="Rea804777eafa46b0" /><Relationship Type="http://schemas.openxmlformats.org/officeDocument/2006/relationships/slide" Target="/ppt/slides/slide3.xml" Id="Ra15616560b454249" /><Relationship Type="http://schemas.openxmlformats.org/officeDocument/2006/relationships/slide" Target="/ppt/slides/slide4.xml" Id="R7a93cac80e934f93" /><Relationship Type="http://schemas.openxmlformats.org/officeDocument/2006/relationships/slide" Target="/ppt/slides/slide5.xml" Id="R69705a77c7d7430e" /><Relationship Type="http://schemas.openxmlformats.org/officeDocument/2006/relationships/slide" Target="/ppt/slides/slide6.xml" Id="R53d7f8d807b645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d435641d2a49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4a2d00c0bc4292" /><Relationship Type="http://schemas.openxmlformats.org/officeDocument/2006/relationships/notesMaster" Target="/ppt/notesMasters/notesMaster1.xml" Id="R8324bdfc55514a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b64593e7044efa" /><Relationship Type="http://schemas.openxmlformats.org/officeDocument/2006/relationships/notesMaster" Target="/ppt/notesMasters/notesMaster1.xml" Id="Re437f4338c3c45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de0f32e3514042" /><Relationship Type="http://schemas.openxmlformats.org/officeDocument/2006/relationships/notesMaster" Target="/ppt/notesMasters/notesMaster1.xml" Id="R7224d2aeaa2e45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283d04b9154b68" /><Relationship Type="http://schemas.openxmlformats.org/officeDocument/2006/relationships/notesMaster" Target="/ppt/notesMasters/notesMaster1.xml" Id="R4dedb35616e540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b69bd05c8b4fe0" /><Relationship Type="http://schemas.openxmlformats.org/officeDocument/2006/relationships/notesMaster" Target="/ppt/notesMasters/notesMaster1.xml" Id="R4f2c729f2b564c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3ac74d405d4d32" /><Relationship Type="http://schemas.openxmlformats.org/officeDocument/2006/relationships/notesMaster" Target="/ppt/notesMasters/notesMaster1.xml" Id="R59917d92b50944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reservation system has to keep its promises, even when requests are repeated or a restaurant changes its plans. This is Tablekeeper, built by three agents in BAND. Here is the accepted application with fictitious demonstration data. We search for a table, select a time, confirm a reservation, and retrieve its reference. An unknown reference produces a clear error. Behind this workflow are four complete stages and an independently reviewed result.</a:t>
            </a:r>
          </a:p>
          <a:p xmlns:a="http://schemas.openxmlformats.org/drawingml/2006/main">
            <a:r>
              <a:t/>
            </a:r>
          </a:p>
          <a:p xmlns:a="http://schemas.openxmlformats.org/drawingml/2006/main">
            <a:r>
              <a:t>Evidence: accepted source 96ab4b80f21c3ff7744f56c029ed3f9b3fea26ac; exact independent clean-clone reports; original full BAND UI room export. Film uses edited post-completion application and room inspection. Administrative intervention is disclosed, never uninterrupted autonomy.</a:t>
            </a:r>
          </a:p>
          <a:p xmlns:a="http://schemas.openxmlformats.org/drawingml/2006/main">
            <a:r>
              <a:t>Sources: https://raw.githubusercontent.com/band-ai/dark-factory-wearedevs/main/docs/participant-guide.md ; https://lablab.ai/ai-articles/hackathon-guidelines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Coordinator carries the full assignment and its acceptance criteria. The Builder owns the implementation. The Verifier checks the exact revision independently and can reject it. Their standing mandates describe these responsibilities without encoding the reservation contract. This is the original BAND room: a numbered handoff carries the cumulative task, with hashes to check completeness. These are real messages and results from the selected run, inspected after completion.</a:t>
            </a:r>
          </a:p>
          <a:p xmlns:a="http://schemas.openxmlformats.org/drawingml/2006/main">
            <a:r>
              <a:t/>
            </a:r>
          </a:p>
          <a:p xmlns:a="http://schemas.openxmlformats.org/drawingml/2006/main">
            <a:r>
              <a:t>Evidence: accepted source 96ab4b80f21c3ff7744f56c029ed3f9b3fea26ac; exact independent clean-clone reports; original full BAND UI room export. Film uses edited post-completion application and room inspection. Administrative intervention is disclosed, never uninterrupted autonomy.</a:t>
            </a:r>
          </a:p>
          <a:p xmlns:a="http://schemas.openxmlformats.org/drawingml/2006/main">
            <a:r>
              <a:t>Sources: https://raw.githubusercontent.com/band-ai/dark-factory-wearedevs/main/docs/participant-guide.md ; https://lablab.ai/ai-articles/hackathon-guidelines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useful review was a rejection. Public checks had passed, but the Verifier found that an imported, tampered closure plan could later confirm a reservation on a closing table. The Builder repaired validation. The independent recheck required the invalid import to return an error and leave the destination unchanged. It then approved the repaired commit. The original record preserves the defect, the correction, and acceptance of revision ninety-six A B four B eight.</a:t>
            </a:r>
          </a:p>
          <a:p xmlns:a="http://schemas.openxmlformats.org/drawingml/2006/main">
            <a:r>
              <a:t/>
            </a:r>
          </a:p>
          <a:p xmlns:a="http://schemas.openxmlformats.org/drawingml/2006/main">
            <a:r>
              <a:t>Evidence: accepted source 96ab4b80f21c3ff7744f56c029ed3f9b3fea26ac; exact independent clean-clone reports; original full BAND UI room export. Film uses edited post-completion application and room inspection. Administrative intervention is disclosed, never uninterrupted autonomy.</a:t>
            </a:r>
          </a:p>
          <a:p xmlns:a="http://schemas.openxmlformats.org/drawingml/2006/main">
            <a:r>
              <a:t>Sources: https://raw.githubusercontent.com/band-ai/dark-factory-wearedevs/main/docs/participant-guide.md ; https://lablab.ai/ai-articles/hackathon-guidelines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one establishes atomic operations, idempotent writes, and state export and import. Stage two adds the browser workflow and recovery from stale state and lost responses. Stage three introduces policies that take effect over time while keeping accepted booking terms truthful. Stage four adds series changes and closure replanning, with preview and atomic application. Each stage remains a complete service with its own Dockerfile and run instructions. The application itself needs no model call.</a:t>
            </a:r>
          </a:p>
          <a:p xmlns:a="http://schemas.openxmlformats.org/drawingml/2006/main">
            <a:r>
              <a:t/>
            </a:r>
          </a:p>
          <a:p xmlns:a="http://schemas.openxmlformats.org/drawingml/2006/main">
            <a:r>
              <a:t>Evidence: accepted source 96ab4b80f21c3ff7744f56c029ed3f9b3fea26ac; exact independent clean-clone reports; original full BAND UI room export. Film uses edited post-completion application and room inspection. Administrative intervention is disclosed, never uninterrupted autonomy.</a:t>
            </a:r>
          </a:p>
          <a:p xmlns:a="http://schemas.openxmlformats.org/drawingml/2006/main">
            <a:r>
              <a:t>Sources: https://raw.githubusercontent.com/band-ai/dark-factory-wearedevs/main/docs/participant-guide.md ; https://lablab.ai/ai-articles/hackathon-guidelines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independent clean clone passed the public checks for all four stages in isolated mode. The delivery ties these reports to the accepted source, three generic mandates, and the original full BAND export. The documentation records design choices, elapsed time, measured partial model usage, and recovery history. It distinguishes subscription usage from a billed project cost. Public checks support the result; private evaluation remains the organizers' decision. The evidence is available for inspection.</a:t>
            </a:r>
          </a:p>
          <a:p xmlns:a="http://schemas.openxmlformats.org/drawingml/2006/main">
            <a:r>
              <a:t/>
            </a:r>
          </a:p>
          <a:p xmlns:a="http://schemas.openxmlformats.org/drawingml/2006/main">
            <a:r>
              <a:t>Evidence: accepted source 96ab4b80f21c3ff7744f56c029ed3f9b3fea26ac; exact independent clean-clone reports; original full BAND UI room export. Film uses edited post-completion application and room inspection. Administrative intervention is disclosed, never uninterrupted autonomy.</a:t>
            </a:r>
          </a:p>
          <a:p xmlns:a="http://schemas.openxmlformats.org/drawingml/2006/main">
            <a:r>
              <a:t>Sources: https://raw.githubusercontent.com/band-ai/dark-factory-wearedevs/main/docs/participant-guide.md ; https://lablab.ai/ai-articles/hackathon-guidelines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Recovery was needed between stages and during stage four. The operator restored runtime files, infrastructure, and the same agents and threads, then sent one administrative notice. There were no operator production edits or repeated stage tasks. We disclose this intervention and do not claim uninterrupted autonomy. Tablekeeper brings together a working service, reproducible stages, and the original record of how the team built and checked it.</a:t>
            </a:r>
          </a:p>
          <a:p xmlns:a="http://schemas.openxmlformats.org/drawingml/2006/main">
            <a:r>
              <a:t/>
            </a:r>
          </a:p>
          <a:p xmlns:a="http://schemas.openxmlformats.org/drawingml/2006/main">
            <a:r>
              <a:t>Evidence: accepted source 96ab4b80f21c3ff7744f56c029ed3f9b3fea26ac; exact independent clean-clone reports; original full BAND UI room export. Film uses edited post-completion application and room inspection. Administrative intervention is disclosed, never uninterrupted autonomy.</a:t>
            </a:r>
          </a:p>
          <a:p xmlns:a="http://schemas.openxmlformats.org/drawingml/2006/main">
            <a:r>
              <a:t>Sources: https://raw.githubusercontent.com/band-ai/dark-factory-wearedevs/main/docs/participant-guide.md ; https://lablab.ai/ai-articles/hackathon-guidelines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7fd49bf91c41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df11e2b95c4e85" /><Relationship Type="http://schemas.openxmlformats.org/officeDocument/2006/relationships/slideLayout" Target="/ppt/slideLayouts/slideLayout1.xml" Id="Re9fa3f9fca78439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fa3f9fca78439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b80ddf5ea74de8" /><Relationship Type="http://schemas.openxmlformats.org/officeDocument/2006/relationships/notesSlide" Target="/ppt/notesSlides/notesSlide1.xml" Id="R2ca66497e9934f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5d053f2c3747f2" /><Relationship Type="http://schemas.openxmlformats.org/officeDocument/2006/relationships/notesSlide" Target="/ppt/notesSlides/notesSlide2.xml" Id="R517fa6cb81ca4d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7f69dc034a64466" /><Relationship Type="http://schemas.openxmlformats.org/officeDocument/2006/relationships/notesSlide" Target="/ppt/notesSlides/notesSlide3.xml" Id="R3198a8b2dd584c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a7d60e9c294794" /><Relationship Type="http://schemas.openxmlformats.org/officeDocument/2006/relationships/notesSlide" Target="/ppt/notesSlides/notesSlide4.xml" Id="Rd7658b1437d644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d0787201b3041bd" /><Relationship Type="http://schemas.openxmlformats.org/officeDocument/2006/relationships/notesSlide" Target="/ppt/notesSlides/notesSlide5.xml" Id="R389f13160bf54b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e16a21b77514852" /><Relationship Type="http://schemas.openxmlformats.org/officeDocument/2006/relationships/notesSlide" Target="/ppt/notesSlides/notesSlide6.xml" Id="R236a02ed32fb40bd" /></Relationships>
</file>

<file path=ppt/slides/slide1.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EBEBD29-3EC9-4429-9186-07DCCE8DC283}"/>
              </a:ext>
            </a:extLst>
          </p:cNvPr>
          <p:cNvSpPr>
            <a:spLocks xmlns:a="http://schemas.openxmlformats.org/drawingml/2006/main" noGrp="1"/>
          </p:cNvSpPr>
          <p:nvPr/>
        </p:nvSpPr>
        <p:spPr>
          <a:xfrm xmlns:a="http://schemas.openxmlformats.org/drawingml/2006/main">
            <a:off x="609600" y="2476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200" b="1">
                <a:solidFill>
                  <a:srgbClr val="F5B942"/>
                </a:solidFill>
                <a:latin typeface="Arial"/>
                <a:ea typeface="Arial"/>
                <a:cs typeface="Arial"/>
              </a:rPr>
              <a:t>TABLEKEEPER · PROOFLINE FACTORY</a:t>
            </a:r>
          </a:p>
        </p:txBody>
      </p:sp>
      <p:sp>
        <p:nvSpPr>
          <p:cNvPr id="2" name="">
            <a:extLst xmlns:a="http://schemas.openxmlformats.org/drawingml/2006/main">
              <a:ext uri="{FF2B5EF4-FFF2-40B4-BE49-F238E27FC236}">
                <a16:creationId xmlns:a16="http://schemas.microsoft.com/office/drawing/2014/main" id="{43C1CB3F-0D2C-4D95-9FC0-E0C37CDC4D47}"/>
              </a:ext>
            </a:extLst>
          </p:cNvPr>
          <p:cNvSpPr>
            <a:spLocks xmlns:a="http://schemas.openxmlformats.org/drawingml/2006/main" noGrp="1"/>
          </p:cNvSpPr>
          <p:nvPr/>
        </p:nvSpPr>
        <p:spPr>
          <a:xfrm xmlns:a="http://schemas.openxmlformats.org/drawingml/2006/main">
            <a:off x="609600" y="8382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3450" b="1">
                <a:solidFill>
                  <a:srgbClr val="F4F7FB"/>
                </a:solidFill>
                <a:latin typeface="Arial"/>
                <a:ea typeface="Arial"/>
                <a:cs typeface="Arial"/>
              </a:rPr>
              <a:t>Tablekeeper</a:t>
            </a:r>
          </a:p>
        </p:txBody>
      </p:sp>
      <p:sp>
        <p:nvSpPr>
          <p:cNvPr id="3" name="">
            <a:extLst xmlns:a="http://schemas.openxmlformats.org/drawingml/2006/main">
              <a:ext uri="{FF2B5EF4-FFF2-40B4-BE49-F238E27FC236}">
                <a16:creationId xmlns:a16="http://schemas.microsoft.com/office/drawing/2014/main" id="{6D253436-D68A-4ABC-B679-B1A7EE30B484}"/>
              </a:ext>
            </a:extLst>
          </p:cNvPr>
          <p:cNvSpPr>
            <a:spLocks xmlns:a="http://schemas.openxmlformats.org/drawingml/2006/main" noGrp="1"/>
          </p:cNvSpPr>
          <p:nvPr/>
        </p:nvSpPr>
        <p:spPr>
          <a:xfrm xmlns:a="http://schemas.openxmlformats.org/drawingml/2006/main">
            <a:off x="609600" y="6210300"/>
            <a:ext cx="10972800" cy="19050"/>
          </a:xfrm>
          <a:prstGeom xmlns:a="http://schemas.openxmlformats.org/drawingml/2006/main" prst="rect">
            <a:avLst/>
          </a:prstGeom>
          <a:solidFill xmlns:a="http://schemas.openxmlformats.org/drawingml/2006/main">
            <a:srgbClr val="45536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6133A34-F3B8-4099-B850-8ED503FF92B4}"/>
              </a:ext>
            </a:extLst>
          </p:cNvPr>
          <p:cNvSpPr>
            <a:spLocks xmlns:a="http://schemas.openxmlformats.org/drawingml/2006/main" noGrp="1"/>
          </p:cNvSpPr>
          <p:nvPr/>
        </p:nvSpPr>
        <p:spPr>
          <a:xfrm xmlns:a="http://schemas.openxmlformats.org/drawingml/2006/main">
            <a:off x="609600" y="6343650"/>
            <a:ext cx="704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425" b="0">
                <a:solidFill>
                  <a:srgbClr val="A5B3C6"/>
                </a:solidFill>
                <a:latin typeface="Arial"/>
                <a:ea typeface="Arial"/>
                <a:cs typeface="Arial"/>
              </a:rPr>
              <a:t>Tablekeeper V2 · 01 / 06</a:t>
            </a:r>
          </a:p>
        </p:txBody>
      </p:sp>
      <p:sp>
        <p:nvSpPr>
          <p:cNvPr id="5" name="">
            <a:extLst xmlns:a="http://schemas.openxmlformats.org/drawingml/2006/main">
              <a:ext uri="{FF2B5EF4-FFF2-40B4-BE49-F238E27FC236}">
                <a16:creationId xmlns:a16="http://schemas.microsoft.com/office/drawing/2014/main" id="{4BC41D52-6ED7-4DDE-A830-6D4007C093AD}"/>
              </a:ext>
            </a:extLst>
          </p:cNvPr>
          <p:cNvSpPr>
            <a:spLocks xmlns:a="http://schemas.openxmlformats.org/drawingml/2006/main" noGrp="1"/>
          </p:cNvSpPr>
          <p:nvPr/>
        </p:nvSpPr>
        <p:spPr>
          <a:xfrm xmlns:a="http://schemas.openxmlformats.org/drawingml/2006/main">
            <a:off x="10382250" y="6343650"/>
            <a:ext cx="1200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425" b="0">
                <a:solidFill>
                  <a:srgbClr val="A5B3C6"/>
                </a:solidFill>
                <a:latin typeface="Arial"/>
                <a:ea typeface="Arial"/>
                <a:cs typeface="Arial"/>
              </a:rPr>
              <a:t>96ab4b8</a:t>
            </a:r>
          </a:p>
        </p:txBody>
      </p:sp>
      <p:sp>
        <p:nvSpPr>
          <p:cNvPr id="6" name="">
            <a:extLst xmlns:a="http://schemas.openxmlformats.org/drawingml/2006/main">
              <a:ext uri="{FF2B5EF4-FFF2-40B4-BE49-F238E27FC236}">
                <a16:creationId xmlns:a16="http://schemas.microsoft.com/office/drawing/2014/main" id="{7C568EFF-F1C1-4ECF-941E-8916AA8947CA}"/>
              </a:ext>
            </a:extLst>
          </p:cNvPr>
          <p:cNvSpPr>
            <a:spLocks xmlns:a="http://schemas.openxmlformats.org/drawingml/2006/main" noGrp="1"/>
          </p:cNvSpPr>
          <p:nvPr/>
        </p:nvSpPr>
        <p:spPr>
          <a:xfrm xmlns:a="http://schemas.openxmlformats.org/drawingml/2006/main">
            <a:off x="609600" y="207645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2550" b="0">
                <a:solidFill>
                  <a:srgbClr val="F4F7FB"/>
                </a:solidFill>
                <a:latin typeface="Arial"/>
                <a:ea typeface="Arial"/>
                <a:cs typeface="Arial"/>
              </a:rPr>
              <a:t>Four stages.</a:t>
            </a:r>
          </a:p>
          <a:p xmlns:a="http://schemas.openxmlformats.org/drawingml/2006/main">
            <a:r>
              <a:rPr sz="2550" b="0">
                <a:solidFill>
                  <a:srgbClr val="F4F7FB"/>
                </a:solidFill>
                <a:latin typeface="Arial"/>
                <a:ea typeface="Arial"/>
                <a:cs typeface="Arial"/>
              </a:rPr>
              <a:t>Reservations kept consistent.</a:t>
            </a:r>
          </a:p>
        </p:txBody>
      </p:sp>
      <p:sp>
        <p:nvSpPr>
          <p:cNvPr id="7" name="">
            <a:extLst xmlns:a="http://schemas.openxmlformats.org/drawingml/2006/main">
              <a:ext uri="{FF2B5EF4-FFF2-40B4-BE49-F238E27FC236}">
                <a16:creationId xmlns:a16="http://schemas.microsoft.com/office/drawing/2014/main" id="{8E261B97-3E8C-4EF0-88BA-BE0307027ADD}"/>
              </a:ext>
            </a:extLst>
          </p:cNvPr>
          <p:cNvSpPr>
            <a:spLocks xmlns:a="http://schemas.openxmlformats.org/drawingml/2006/main" noGrp="1"/>
          </p:cNvSpPr>
          <p:nvPr/>
        </p:nvSpPr>
        <p:spPr>
          <a:xfrm xmlns:a="http://schemas.openxmlformats.org/drawingml/2006/main">
            <a:off x="609600" y="3390900"/>
            <a:ext cx="5257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875" b="0">
                <a:solidFill>
                  <a:srgbClr val="A5B3C6"/>
                </a:solidFill>
                <a:latin typeface="Arial"/>
                <a:ea typeface="Arial"/>
                <a:cs typeface="Arial"/>
              </a:rPr>
              <a:t>Three BAND seats. Independent review.</a:t>
            </a:r>
          </a:p>
        </p:txBody>
      </p:sp>
      <p:sp>
        <p:nvSpPr>
          <p:cNvPr id="8" name="">
            <a:extLst xmlns:a="http://schemas.openxmlformats.org/drawingml/2006/main">
              <a:ext uri="{FF2B5EF4-FFF2-40B4-BE49-F238E27FC236}">
                <a16:creationId xmlns:a16="http://schemas.microsoft.com/office/drawing/2014/main" id="{19170E75-A1CB-40DC-99D6-A52EEDA67BD6}"/>
              </a:ext>
            </a:extLst>
          </p:cNvPr>
          <p:cNvSpPr>
            <a:spLocks xmlns:a="http://schemas.openxmlformats.org/drawingml/2006/main" noGrp="1"/>
          </p:cNvSpPr>
          <p:nvPr/>
        </p:nvSpPr>
        <p:spPr>
          <a:xfrm xmlns:a="http://schemas.openxmlformats.org/drawingml/2006/main">
            <a:off x="609600" y="446722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2100" b="1">
                <a:solidFill>
                  <a:srgbClr val="F5B942"/>
                </a:solidFill>
                <a:latin typeface="Arial"/>
                <a:ea typeface="Arial"/>
                <a:cs typeface="Arial"/>
              </a:rPr>
              <a:t>4/4 public stage claims accepted</a:t>
            </a:r>
          </a:p>
        </p:txBody>
      </p:sp>
      <p:sp>
        <p:nvSpPr>
          <p:cNvPr id="9" name="">
            <a:extLst xmlns:a="http://schemas.openxmlformats.org/drawingml/2006/main">
              <a:ext uri="{FF2B5EF4-FFF2-40B4-BE49-F238E27FC236}">
                <a16:creationId xmlns:a16="http://schemas.microsoft.com/office/drawing/2014/main" id="{E344A02C-C162-4808-A377-BBC344AC999B}"/>
              </a:ext>
            </a:extLst>
          </p:cNvPr>
          <p:cNvSpPr>
            <a:spLocks xmlns:a="http://schemas.openxmlformats.org/drawingml/2006/main" noGrp="1"/>
          </p:cNvSpPr>
          <p:nvPr/>
        </p:nvSpPr>
        <p:spPr>
          <a:xfrm xmlns:a="http://schemas.openxmlformats.org/drawingml/2006/main">
            <a:off x="609600" y="5457825"/>
            <a:ext cx="5286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650" b="0">
                <a:solidFill>
                  <a:srgbClr val="A5B3C6"/>
                </a:solidFill>
                <a:latin typeface="Arial"/>
                <a:ea typeface="Arial"/>
                <a:cs typeface="Arial"/>
              </a:rPr>
              <a:t>Accepted revision: 96ab4b8</a:t>
            </a:r>
          </a:p>
        </p:txBody>
      </p:sp>
      <p:sp>
        <p:nvSpPr>
          <p:cNvPr id="10" name="">
            <a:extLst xmlns:a="http://schemas.openxmlformats.org/drawingml/2006/main">
              <a:ext uri="{FF2B5EF4-FFF2-40B4-BE49-F238E27FC236}">
                <a16:creationId xmlns:a16="http://schemas.microsoft.com/office/drawing/2014/main" id="{3FFB0D85-C234-4C4A-92A1-660D2F50A0AB}"/>
              </a:ext>
            </a:extLst>
          </p:cNvPr>
          <p:cNvSpPr>
            <a:spLocks xmlns:a="http://schemas.openxmlformats.org/drawingml/2006/main" noGrp="1"/>
          </p:cNvSpPr>
          <p:nvPr/>
        </p:nvSpPr>
        <p:spPr>
          <a:xfrm xmlns:a="http://schemas.openxmlformats.org/drawingml/2006/main">
            <a:off x="6362700" y="2124075"/>
            <a:ext cx="5219700" cy="3648075"/>
          </a:xfrm>
          <a:prstGeom xmlns:a="http://schemas.openxmlformats.org/drawingml/2006/main" prst="rect">
            <a:avLst/>
          </a:prstGeom>
          <a:noFill xmlns:a="http://schemas.openxmlformats.org/drawingml/2006/main"/>
          <a:ln xmlns:a="http://schemas.openxmlformats.org/drawingml/2006/main" w="19050">
            <a:solidFill>
              <a:srgbClr val="45536B"/>
            </a:solidFill>
          </a:ln>
        </p:spPr>
      </p:sp>
      <p:sp>
        <p:nvSpPr>
          <p:cNvPr id="11" name="">
            <a:extLst xmlns:a="http://schemas.openxmlformats.org/drawingml/2006/main">
              <a:ext uri="{FF2B5EF4-FFF2-40B4-BE49-F238E27FC236}">
                <a16:creationId xmlns:a16="http://schemas.microsoft.com/office/drawing/2014/main" id="{305D7C0F-E3E6-489A-8404-0A398414CAB2}"/>
              </a:ext>
            </a:extLst>
          </p:cNvPr>
          <p:cNvSpPr>
            <a:spLocks xmlns:a="http://schemas.openxmlformats.org/drawingml/2006/main" noGrp="1"/>
          </p:cNvSpPr>
          <p:nvPr/>
        </p:nvSpPr>
        <p:spPr>
          <a:xfrm xmlns:a="http://schemas.openxmlformats.org/drawingml/2006/main">
            <a:off x="6591300" y="23907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800" b="1">
                <a:solidFill>
                  <a:srgbClr val="F5B942"/>
                </a:solidFill>
                <a:latin typeface="Arial"/>
                <a:ea typeface="Arial"/>
                <a:cs typeface="Arial"/>
              </a:rPr>
              <a:t>INDEPENDENTLY CHECKED RESULT</a:t>
            </a:r>
          </a:p>
        </p:txBody>
      </p:sp>
      <p:sp>
        <p:nvSpPr>
          <p:cNvPr id="12" name="">
            <a:extLst xmlns:a="http://schemas.openxmlformats.org/drawingml/2006/main">
              <a:ext uri="{FF2B5EF4-FFF2-40B4-BE49-F238E27FC236}">
                <a16:creationId xmlns:a16="http://schemas.microsoft.com/office/drawing/2014/main" id="{0D2E7574-86EA-4A2C-98EB-A68E040E6F44}"/>
              </a:ext>
            </a:extLst>
          </p:cNvPr>
          <p:cNvSpPr>
            <a:spLocks xmlns:a="http://schemas.openxmlformats.org/drawingml/2006/main" noGrp="1"/>
          </p:cNvSpPr>
          <p:nvPr/>
        </p:nvSpPr>
        <p:spPr>
          <a:xfrm xmlns:a="http://schemas.openxmlformats.org/drawingml/2006/main">
            <a:off x="6591300" y="2990850"/>
            <a:ext cx="4762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2550" b="1">
                <a:solidFill>
                  <a:srgbClr val="F4F7FB"/>
                </a:solidFill>
                <a:latin typeface="Arial"/>
                <a:ea typeface="Arial"/>
                <a:cs typeface="Arial"/>
              </a:rPr>
              <a:t>Four complete</a:t>
            </a:r>
          </a:p>
          <a:p xmlns:a="http://schemas.openxmlformats.org/drawingml/2006/main">
            <a:r>
              <a:rPr sz="2550" b="1">
                <a:solidFill>
                  <a:srgbClr val="F4F7FB"/>
                </a:solidFill>
                <a:latin typeface="Arial"/>
                <a:ea typeface="Arial"/>
                <a:cs typeface="Arial"/>
              </a:rPr>
              <a:t>service stages</a:t>
            </a:r>
          </a:p>
        </p:txBody>
      </p:sp>
      <p:sp>
        <p:nvSpPr>
          <p:cNvPr id="13" name="">
            <a:extLst xmlns:a="http://schemas.openxmlformats.org/drawingml/2006/main">
              <a:ext uri="{FF2B5EF4-FFF2-40B4-BE49-F238E27FC236}">
                <a16:creationId xmlns:a16="http://schemas.microsoft.com/office/drawing/2014/main" id="{B50AD280-D3C6-42B1-9497-DEE23F8EEA68}"/>
              </a:ext>
            </a:extLst>
          </p:cNvPr>
          <p:cNvSpPr>
            <a:spLocks xmlns:a="http://schemas.openxmlformats.org/drawingml/2006/main" noGrp="1"/>
          </p:cNvSpPr>
          <p:nvPr/>
        </p:nvSpPr>
        <p:spPr>
          <a:xfrm xmlns:a="http://schemas.openxmlformats.org/drawingml/2006/main">
            <a:off x="6591300" y="49625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650" b="0">
                <a:solidFill>
                  <a:srgbClr val="A5B3C6"/>
                </a:solidFill>
                <a:latin typeface="Arial"/>
                <a:ea typeface="Arial"/>
                <a:cs typeface="Arial"/>
              </a:rPr>
              <a:t>Source and original room preserved</a:t>
            </a:r>
          </a:p>
        </p:txBody>
      </p:sp>
    </p:spTree>
    <p:extLst>
      <p:ext uri="{BB962C8B-B14F-4D97-AF65-F5344CB8AC3E}">
        <p14:creationId xmlns:p14="http://schemas.microsoft.com/office/powerpoint/2010/main" val="133804126"/>
      </p:ext>
    </p:extLst>
  </p:cSld>
</p:sld>
</file>

<file path=ppt/slides/slide2.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44B088D-AE04-4977-BDC4-6B8356786378}"/>
              </a:ext>
            </a:extLst>
          </p:cNvPr>
          <p:cNvSpPr>
            <a:spLocks xmlns:a="http://schemas.openxmlformats.org/drawingml/2006/main" noGrp="1"/>
          </p:cNvSpPr>
          <p:nvPr/>
        </p:nvSpPr>
        <p:spPr>
          <a:xfrm xmlns:a="http://schemas.openxmlformats.org/drawingml/2006/main">
            <a:off x="609600" y="2476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200" b="1">
                <a:solidFill>
                  <a:srgbClr val="F5B942"/>
                </a:solidFill>
                <a:latin typeface="Arial"/>
                <a:ea typeface="Arial"/>
                <a:cs typeface="Arial"/>
              </a:rPr>
              <a:t>TABLEKEEPER · PROOFLINE FACTORY</a:t>
            </a:r>
          </a:p>
        </p:txBody>
      </p:sp>
      <p:sp>
        <p:nvSpPr>
          <p:cNvPr id="2" name="">
            <a:extLst xmlns:a="http://schemas.openxmlformats.org/drawingml/2006/main">
              <a:ext uri="{FF2B5EF4-FFF2-40B4-BE49-F238E27FC236}">
                <a16:creationId xmlns:a16="http://schemas.microsoft.com/office/drawing/2014/main" id="{D7CF1A46-434D-4DE8-9462-4910C41CD395}"/>
              </a:ext>
            </a:extLst>
          </p:cNvPr>
          <p:cNvSpPr>
            <a:spLocks xmlns:a="http://schemas.openxmlformats.org/drawingml/2006/main" noGrp="1"/>
          </p:cNvSpPr>
          <p:nvPr/>
        </p:nvSpPr>
        <p:spPr>
          <a:xfrm xmlns:a="http://schemas.openxmlformats.org/drawingml/2006/main">
            <a:off x="609600" y="8382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3000" b="1">
                <a:solidFill>
                  <a:srgbClr val="F4F7FB"/>
                </a:solidFill>
                <a:latin typeface="Arial"/>
                <a:ea typeface="Arial"/>
                <a:cs typeface="Arial"/>
              </a:rPr>
              <a:t>Separate implementation from acceptance</a:t>
            </a:r>
          </a:p>
        </p:txBody>
      </p:sp>
      <p:sp>
        <p:nvSpPr>
          <p:cNvPr id="3" name="">
            <a:extLst xmlns:a="http://schemas.openxmlformats.org/drawingml/2006/main">
              <a:ext uri="{FF2B5EF4-FFF2-40B4-BE49-F238E27FC236}">
                <a16:creationId xmlns:a16="http://schemas.microsoft.com/office/drawing/2014/main" id="{C49F28BB-759C-4913-9B57-40585865D28B}"/>
              </a:ext>
            </a:extLst>
          </p:cNvPr>
          <p:cNvSpPr>
            <a:spLocks xmlns:a="http://schemas.openxmlformats.org/drawingml/2006/main" noGrp="1"/>
          </p:cNvSpPr>
          <p:nvPr/>
        </p:nvSpPr>
        <p:spPr>
          <a:xfrm xmlns:a="http://schemas.openxmlformats.org/drawingml/2006/main">
            <a:off x="609600" y="6210300"/>
            <a:ext cx="10972800" cy="19050"/>
          </a:xfrm>
          <a:prstGeom xmlns:a="http://schemas.openxmlformats.org/drawingml/2006/main" prst="rect">
            <a:avLst/>
          </a:prstGeom>
          <a:solidFill xmlns:a="http://schemas.openxmlformats.org/drawingml/2006/main">
            <a:srgbClr val="45536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6E8BB4A-B94D-46E3-8E09-A580789CE17D}"/>
              </a:ext>
            </a:extLst>
          </p:cNvPr>
          <p:cNvSpPr>
            <a:spLocks xmlns:a="http://schemas.openxmlformats.org/drawingml/2006/main" noGrp="1"/>
          </p:cNvSpPr>
          <p:nvPr/>
        </p:nvSpPr>
        <p:spPr>
          <a:xfrm xmlns:a="http://schemas.openxmlformats.org/drawingml/2006/main">
            <a:off x="609600" y="6343650"/>
            <a:ext cx="704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425" b="0">
                <a:solidFill>
                  <a:srgbClr val="A5B3C6"/>
                </a:solidFill>
                <a:latin typeface="Arial"/>
                <a:ea typeface="Arial"/>
                <a:cs typeface="Arial"/>
              </a:rPr>
              <a:t>Tablekeeper V2 · 02 / 06</a:t>
            </a:r>
          </a:p>
        </p:txBody>
      </p:sp>
      <p:sp>
        <p:nvSpPr>
          <p:cNvPr id="5" name="">
            <a:extLst xmlns:a="http://schemas.openxmlformats.org/drawingml/2006/main">
              <a:ext uri="{FF2B5EF4-FFF2-40B4-BE49-F238E27FC236}">
                <a16:creationId xmlns:a16="http://schemas.microsoft.com/office/drawing/2014/main" id="{2D2F8A97-C12C-4A19-BE6E-664F77426D0A}"/>
              </a:ext>
            </a:extLst>
          </p:cNvPr>
          <p:cNvSpPr>
            <a:spLocks xmlns:a="http://schemas.openxmlformats.org/drawingml/2006/main" noGrp="1"/>
          </p:cNvSpPr>
          <p:nvPr/>
        </p:nvSpPr>
        <p:spPr>
          <a:xfrm xmlns:a="http://schemas.openxmlformats.org/drawingml/2006/main">
            <a:off x="10382250" y="6343650"/>
            <a:ext cx="1200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425" b="0">
                <a:solidFill>
                  <a:srgbClr val="A5B3C6"/>
                </a:solidFill>
                <a:latin typeface="Arial"/>
                <a:ea typeface="Arial"/>
                <a:cs typeface="Arial"/>
              </a:rPr>
              <a:t>96ab4b8</a:t>
            </a:r>
          </a:p>
        </p:txBody>
      </p:sp>
      <p:sp>
        <p:nvSpPr>
          <p:cNvPr id="6" name="">
            <a:extLst xmlns:a="http://schemas.openxmlformats.org/drawingml/2006/main">
              <a:ext uri="{FF2B5EF4-FFF2-40B4-BE49-F238E27FC236}">
                <a16:creationId xmlns:a16="http://schemas.microsoft.com/office/drawing/2014/main" id="{163F6072-ED9C-4D31-96D5-144A046D5AC6}"/>
              </a:ext>
            </a:extLst>
          </p:cNvPr>
          <p:cNvSpPr>
            <a:spLocks xmlns:a="http://schemas.openxmlformats.org/drawingml/2006/main" noGrp="1"/>
          </p:cNvSpPr>
          <p:nvPr/>
        </p:nvSpPr>
        <p:spPr>
          <a:xfrm xmlns:a="http://schemas.openxmlformats.org/drawingml/2006/main">
            <a:off x="609600" y="22764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39C7DB"/>
                </a:solidFill>
                <a:latin typeface="Arial"/>
                <a:ea typeface="Arial"/>
                <a:cs typeface="Arial"/>
              </a:defRPr>
            </a:pPr>
            <a:r>
              <a:rPr sz="3150" b="1">
                <a:solidFill>
                  <a:srgbClr val="39C7D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2325DB2-2E74-49FB-95AE-C5118360B723}"/>
              </a:ext>
            </a:extLst>
          </p:cNvPr>
          <p:cNvSpPr>
            <a:spLocks xmlns:a="http://schemas.openxmlformats.org/drawingml/2006/main" noGrp="1"/>
          </p:cNvSpPr>
          <p:nvPr/>
        </p:nvSpPr>
        <p:spPr>
          <a:xfrm xmlns:a="http://schemas.openxmlformats.org/drawingml/2006/main">
            <a:off x="609600" y="2933700"/>
            <a:ext cx="3371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F4F7FB"/>
                </a:solidFill>
                <a:latin typeface="Arial"/>
                <a:ea typeface="Arial"/>
                <a:cs typeface="Arial"/>
              </a:defRPr>
            </a:pPr>
            <a:r>
              <a:rPr sz="2550" b="1">
                <a:solidFill>
                  <a:srgbClr val="F4F7FB"/>
                </a:solidFill>
                <a:latin typeface="Arial"/>
                <a:ea typeface="Arial"/>
                <a:cs typeface="Arial"/>
              </a:rPr>
              <a:t>Coordinator</a:t>
            </a:r>
          </a:p>
        </p:txBody>
      </p:sp>
      <p:sp>
        <p:nvSpPr>
          <p:cNvPr id="8" name="">
            <a:extLst xmlns:a="http://schemas.openxmlformats.org/drawingml/2006/main">
              <a:ext uri="{FF2B5EF4-FFF2-40B4-BE49-F238E27FC236}">
                <a16:creationId xmlns:a16="http://schemas.microsoft.com/office/drawing/2014/main" id="{4FBD56D0-13AB-4B4E-8CEB-73DD6B4F5E1A}"/>
              </a:ext>
            </a:extLst>
          </p:cNvPr>
          <p:cNvSpPr>
            <a:spLocks xmlns:a="http://schemas.openxmlformats.org/drawingml/2006/main" noGrp="1"/>
          </p:cNvSpPr>
          <p:nvPr/>
        </p:nvSpPr>
        <p:spPr>
          <a:xfrm xmlns:a="http://schemas.openxmlformats.org/drawingml/2006/main">
            <a:off x="609600" y="3686175"/>
            <a:ext cx="3371850" cy="19050"/>
          </a:xfrm>
          <a:prstGeom xmlns:a="http://schemas.openxmlformats.org/drawingml/2006/main" prst="rect">
            <a:avLst/>
          </a:prstGeom>
          <a:solidFill xmlns:a="http://schemas.openxmlformats.org/drawingml/2006/main">
            <a:srgbClr val="45536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89EA380-4BD4-4610-BB5A-9851A7CD0E02}"/>
              </a:ext>
            </a:extLst>
          </p:cNvPr>
          <p:cNvSpPr>
            <a:spLocks xmlns:a="http://schemas.openxmlformats.org/drawingml/2006/main" noGrp="1"/>
          </p:cNvSpPr>
          <p:nvPr/>
        </p:nvSpPr>
        <p:spPr>
          <a:xfrm xmlns:a="http://schemas.openxmlformats.org/drawingml/2006/main">
            <a:off x="609600" y="3981450"/>
            <a:ext cx="3371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F4F7FB"/>
                </a:solidFill>
                <a:latin typeface="Arial"/>
                <a:ea typeface="Arial"/>
                <a:cs typeface="Arial"/>
              </a:defRPr>
            </a:pPr>
            <a:r>
              <a:rPr sz="1950" b="0">
                <a:solidFill>
                  <a:srgbClr val="F4F7FB"/>
                </a:solidFill>
                <a:latin typeface="Arial"/>
                <a:ea typeface="Arial"/>
                <a:cs typeface="Arial"/>
              </a:rPr>
              <a:t>Carries the contract</a:t>
            </a:r>
          </a:p>
          <a:p xmlns:a="http://schemas.openxmlformats.org/drawingml/2006/main">
            <a:pPr>
              <a:buNone/>
              <a:defRPr sz="1950" b="0">
                <a:solidFill>
                  <a:srgbClr val="F4F7FB"/>
                </a:solidFill>
                <a:latin typeface="Arial"/>
                <a:ea typeface="Arial"/>
                <a:cs typeface="Arial"/>
              </a:defRPr>
            </a:pPr>
            <a:r>
              <a:rPr sz="1950" b="0">
                <a:solidFill>
                  <a:srgbClr val="F4F7FB"/>
                </a:solidFill>
                <a:latin typeface="Arial"/>
                <a:ea typeface="Arial"/>
                <a:cs typeface="Arial"/>
              </a:rPr>
              <a:t>and routes the work</a:t>
            </a:r>
          </a:p>
        </p:txBody>
      </p:sp>
      <p:sp>
        <p:nvSpPr>
          <p:cNvPr id="10" name="">
            <a:extLst xmlns:a="http://schemas.openxmlformats.org/drawingml/2006/main">
              <a:ext uri="{FF2B5EF4-FFF2-40B4-BE49-F238E27FC236}">
                <a16:creationId xmlns:a16="http://schemas.microsoft.com/office/drawing/2014/main" id="{983624BA-721A-488E-B733-EB0FD2C6F006}"/>
              </a:ext>
            </a:extLst>
          </p:cNvPr>
          <p:cNvSpPr>
            <a:spLocks xmlns:a="http://schemas.openxmlformats.org/drawingml/2006/main" noGrp="1"/>
          </p:cNvSpPr>
          <p:nvPr/>
        </p:nvSpPr>
        <p:spPr>
          <a:xfrm xmlns:a="http://schemas.openxmlformats.org/drawingml/2006/main">
            <a:off x="4400550" y="22764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39C7DB"/>
                </a:solidFill>
                <a:latin typeface="Arial"/>
                <a:ea typeface="Arial"/>
                <a:cs typeface="Arial"/>
              </a:defRPr>
            </a:pPr>
            <a:r>
              <a:rPr sz="3150" b="1">
                <a:solidFill>
                  <a:srgbClr val="39C7DB"/>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814EBAA5-1C3C-4D32-A050-BAD6C189A3DE}"/>
              </a:ext>
            </a:extLst>
          </p:cNvPr>
          <p:cNvSpPr>
            <a:spLocks xmlns:a="http://schemas.openxmlformats.org/drawingml/2006/main" noGrp="1"/>
          </p:cNvSpPr>
          <p:nvPr/>
        </p:nvSpPr>
        <p:spPr>
          <a:xfrm xmlns:a="http://schemas.openxmlformats.org/drawingml/2006/main">
            <a:off x="4400550" y="2933700"/>
            <a:ext cx="3371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F4F7FB"/>
                </a:solidFill>
                <a:latin typeface="Arial"/>
                <a:ea typeface="Arial"/>
                <a:cs typeface="Arial"/>
              </a:defRPr>
            </a:pPr>
            <a:r>
              <a:rPr sz="2550" b="1">
                <a:solidFill>
                  <a:srgbClr val="F4F7FB"/>
                </a:solidFill>
                <a:latin typeface="Arial"/>
                <a:ea typeface="Arial"/>
                <a:cs typeface="Arial"/>
              </a:rPr>
              <a:t>Builder</a:t>
            </a:r>
          </a:p>
        </p:txBody>
      </p:sp>
      <p:sp>
        <p:nvSpPr>
          <p:cNvPr id="12" name="">
            <a:extLst xmlns:a="http://schemas.openxmlformats.org/drawingml/2006/main">
              <a:ext uri="{FF2B5EF4-FFF2-40B4-BE49-F238E27FC236}">
                <a16:creationId xmlns:a16="http://schemas.microsoft.com/office/drawing/2014/main" id="{600BCE7C-1931-4BD1-9492-C1F00AF166FE}"/>
              </a:ext>
            </a:extLst>
          </p:cNvPr>
          <p:cNvSpPr>
            <a:spLocks xmlns:a="http://schemas.openxmlformats.org/drawingml/2006/main" noGrp="1"/>
          </p:cNvSpPr>
          <p:nvPr/>
        </p:nvSpPr>
        <p:spPr>
          <a:xfrm xmlns:a="http://schemas.openxmlformats.org/drawingml/2006/main">
            <a:off x="4400550" y="3686175"/>
            <a:ext cx="3371850" cy="19050"/>
          </a:xfrm>
          <a:prstGeom xmlns:a="http://schemas.openxmlformats.org/drawingml/2006/main" prst="rect">
            <a:avLst/>
          </a:prstGeom>
          <a:solidFill xmlns:a="http://schemas.openxmlformats.org/drawingml/2006/main">
            <a:srgbClr val="45536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300BDE0-B3E2-4454-BE40-5BC27B619543}"/>
              </a:ext>
            </a:extLst>
          </p:cNvPr>
          <p:cNvSpPr>
            <a:spLocks xmlns:a="http://schemas.openxmlformats.org/drawingml/2006/main" noGrp="1"/>
          </p:cNvSpPr>
          <p:nvPr/>
        </p:nvSpPr>
        <p:spPr>
          <a:xfrm xmlns:a="http://schemas.openxmlformats.org/drawingml/2006/main">
            <a:off x="4400550" y="3981450"/>
            <a:ext cx="3371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F4F7FB"/>
                </a:solidFill>
                <a:latin typeface="Arial"/>
                <a:ea typeface="Arial"/>
                <a:cs typeface="Arial"/>
              </a:defRPr>
            </a:pPr>
            <a:r>
              <a:rPr sz="1950" b="0">
                <a:solidFill>
                  <a:srgbClr val="F4F7FB"/>
                </a:solidFill>
                <a:latin typeface="Arial"/>
                <a:ea typeface="Arial"/>
                <a:cs typeface="Arial"/>
              </a:rPr>
              <a:t>Implements the service</a:t>
            </a:r>
          </a:p>
          <a:p xmlns:a="http://schemas.openxmlformats.org/drawingml/2006/main">
            <a:pPr>
              <a:buNone/>
              <a:defRPr sz="1950" b="0">
                <a:solidFill>
                  <a:srgbClr val="F4F7FB"/>
                </a:solidFill>
                <a:latin typeface="Arial"/>
                <a:ea typeface="Arial"/>
                <a:cs typeface="Arial"/>
              </a:defRPr>
            </a:pPr>
            <a:r>
              <a:rPr sz="1950" b="0">
                <a:solidFill>
                  <a:srgbClr val="F4F7FB"/>
                </a:solidFill>
                <a:latin typeface="Arial"/>
                <a:ea typeface="Arial"/>
                <a:cs typeface="Arial"/>
              </a:rPr>
              <a:t>and preserves stages</a:t>
            </a:r>
          </a:p>
        </p:txBody>
      </p:sp>
      <p:sp>
        <p:nvSpPr>
          <p:cNvPr id="14" name="">
            <a:extLst xmlns:a="http://schemas.openxmlformats.org/drawingml/2006/main">
              <a:ext uri="{FF2B5EF4-FFF2-40B4-BE49-F238E27FC236}">
                <a16:creationId xmlns:a16="http://schemas.microsoft.com/office/drawing/2014/main" id="{BBF58665-1B5D-4568-80FA-FB9FD37D650E}"/>
              </a:ext>
            </a:extLst>
          </p:cNvPr>
          <p:cNvSpPr>
            <a:spLocks xmlns:a="http://schemas.openxmlformats.org/drawingml/2006/main" noGrp="1"/>
          </p:cNvSpPr>
          <p:nvPr/>
        </p:nvSpPr>
        <p:spPr>
          <a:xfrm xmlns:a="http://schemas.openxmlformats.org/drawingml/2006/main">
            <a:off x="8191500" y="22764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39C7DB"/>
                </a:solidFill>
                <a:latin typeface="Arial"/>
                <a:ea typeface="Arial"/>
                <a:cs typeface="Arial"/>
              </a:defRPr>
            </a:pPr>
            <a:r>
              <a:rPr sz="3150" b="1">
                <a:solidFill>
                  <a:srgbClr val="39C7DB"/>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99287D5D-BB10-4A73-A09F-8340B0AA9510}"/>
              </a:ext>
            </a:extLst>
          </p:cNvPr>
          <p:cNvSpPr>
            <a:spLocks xmlns:a="http://schemas.openxmlformats.org/drawingml/2006/main" noGrp="1"/>
          </p:cNvSpPr>
          <p:nvPr/>
        </p:nvSpPr>
        <p:spPr>
          <a:xfrm xmlns:a="http://schemas.openxmlformats.org/drawingml/2006/main">
            <a:off x="8191500" y="2933700"/>
            <a:ext cx="3371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F4F7FB"/>
                </a:solidFill>
                <a:latin typeface="Arial"/>
                <a:ea typeface="Arial"/>
                <a:cs typeface="Arial"/>
              </a:defRPr>
            </a:pPr>
            <a:r>
              <a:rPr sz="2550" b="1">
                <a:solidFill>
                  <a:srgbClr val="F4F7FB"/>
                </a:solidFill>
                <a:latin typeface="Arial"/>
                <a:ea typeface="Arial"/>
                <a:cs typeface="Arial"/>
              </a:rPr>
              <a:t>Verifier</a:t>
            </a:r>
          </a:p>
        </p:txBody>
      </p:sp>
      <p:sp>
        <p:nvSpPr>
          <p:cNvPr id="16" name="">
            <a:extLst xmlns:a="http://schemas.openxmlformats.org/drawingml/2006/main">
              <a:ext uri="{FF2B5EF4-FFF2-40B4-BE49-F238E27FC236}">
                <a16:creationId xmlns:a16="http://schemas.microsoft.com/office/drawing/2014/main" id="{C71519F4-35A2-48DA-8E26-7ABDD3F0393B}"/>
              </a:ext>
            </a:extLst>
          </p:cNvPr>
          <p:cNvSpPr>
            <a:spLocks xmlns:a="http://schemas.openxmlformats.org/drawingml/2006/main" noGrp="1"/>
          </p:cNvSpPr>
          <p:nvPr/>
        </p:nvSpPr>
        <p:spPr>
          <a:xfrm xmlns:a="http://schemas.openxmlformats.org/drawingml/2006/main">
            <a:off x="8191500" y="3686175"/>
            <a:ext cx="3371850" cy="19050"/>
          </a:xfrm>
          <a:prstGeom xmlns:a="http://schemas.openxmlformats.org/drawingml/2006/main" prst="rect">
            <a:avLst/>
          </a:prstGeom>
          <a:solidFill xmlns:a="http://schemas.openxmlformats.org/drawingml/2006/main">
            <a:srgbClr val="45536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B215531-978D-4F16-9873-644E8BDEC5DC}"/>
              </a:ext>
            </a:extLst>
          </p:cNvPr>
          <p:cNvSpPr>
            <a:spLocks xmlns:a="http://schemas.openxmlformats.org/drawingml/2006/main" noGrp="1"/>
          </p:cNvSpPr>
          <p:nvPr/>
        </p:nvSpPr>
        <p:spPr>
          <a:xfrm xmlns:a="http://schemas.openxmlformats.org/drawingml/2006/main">
            <a:off x="8191500" y="3981450"/>
            <a:ext cx="3371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F4F7FB"/>
                </a:solidFill>
                <a:latin typeface="Arial"/>
                <a:ea typeface="Arial"/>
                <a:cs typeface="Arial"/>
              </a:defRPr>
            </a:pPr>
            <a:r>
              <a:rPr sz="1950" b="0">
                <a:solidFill>
                  <a:srgbClr val="F4F7FB"/>
                </a:solidFill>
                <a:latin typeface="Arial"/>
                <a:ea typeface="Arial"/>
                <a:cs typeface="Arial"/>
              </a:rPr>
              <a:t>Reviews the exact revision</a:t>
            </a:r>
          </a:p>
          <a:p xmlns:a="http://schemas.openxmlformats.org/drawingml/2006/main">
            <a:pPr>
              <a:buNone/>
              <a:defRPr sz="1950" b="0">
                <a:solidFill>
                  <a:srgbClr val="F4F7FB"/>
                </a:solidFill>
                <a:latin typeface="Arial"/>
                <a:ea typeface="Arial"/>
                <a:cs typeface="Arial"/>
              </a:defRPr>
            </a:pPr>
            <a:r>
              <a:rPr sz="1950" b="0">
                <a:solidFill>
                  <a:srgbClr val="F4F7FB"/>
                </a:solidFill>
                <a:latin typeface="Arial"/>
                <a:ea typeface="Arial"/>
                <a:cs typeface="Arial"/>
              </a:rPr>
              <a:t>and can require changes</a:t>
            </a:r>
          </a:p>
        </p:txBody>
      </p:sp>
      <p:sp>
        <p:nvSpPr>
          <p:cNvPr id="18" name="">
            <a:extLst xmlns:a="http://schemas.openxmlformats.org/drawingml/2006/main">
              <a:ext uri="{FF2B5EF4-FFF2-40B4-BE49-F238E27FC236}">
                <a16:creationId xmlns:a16="http://schemas.microsoft.com/office/drawing/2014/main" id="{C5604569-AF2E-4D67-9D1D-FB93FB72C632}"/>
              </a:ext>
            </a:extLst>
          </p:cNvPr>
          <p:cNvSpPr>
            <a:spLocks xmlns:a="http://schemas.openxmlformats.org/drawingml/2006/main" noGrp="1"/>
          </p:cNvSpPr>
          <p:nvPr/>
        </p:nvSpPr>
        <p:spPr>
          <a:xfrm xmlns:a="http://schemas.openxmlformats.org/drawingml/2006/main">
            <a:off x="609600" y="532447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875" b="0">
                <a:solidFill>
                  <a:srgbClr val="A5B3C6"/>
                </a:solidFill>
                <a:latin typeface="Arial"/>
                <a:ea typeface="Arial"/>
                <a:cs typeface="Arial"/>
              </a:rPr>
              <a:t>V2 seats: gpt-6-sol / medium</a:t>
            </a:r>
          </a:p>
        </p:txBody>
      </p:sp>
      <p:sp>
        <p:nvSpPr>
          <p:cNvPr id="19" name="">
            <a:extLst xmlns:a="http://schemas.openxmlformats.org/drawingml/2006/main">
              <a:ext uri="{FF2B5EF4-FFF2-40B4-BE49-F238E27FC236}">
                <a16:creationId xmlns:a16="http://schemas.microsoft.com/office/drawing/2014/main" id="{8DE8D3CA-0EED-455E-B1E7-E665F6048747}"/>
              </a:ext>
            </a:extLst>
          </p:cNvPr>
          <p:cNvSpPr>
            <a:spLocks xmlns:a="http://schemas.openxmlformats.org/drawingml/2006/main" noGrp="1"/>
          </p:cNvSpPr>
          <p:nvPr/>
        </p:nvSpPr>
        <p:spPr>
          <a:xfrm xmlns:a="http://schemas.openxmlformats.org/drawingml/2006/main">
            <a:off x="609600" y="57721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800" b="1">
                <a:solidFill>
                  <a:srgbClr val="F5B942"/>
                </a:solidFill>
                <a:latin typeface="Arial"/>
                <a:ea typeface="Arial"/>
                <a:cs typeface="Arial"/>
              </a:rPr>
              <a:t>Generic mandates; exact-revision independent review</a:t>
            </a:r>
          </a:p>
        </p:txBody>
      </p:sp>
    </p:spTree>
    <p:extLst>
      <p:ext uri="{BB962C8B-B14F-4D97-AF65-F5344CB8AC3E}">
        <p14:creationId xmlns:p14="http://schemas.microsoft.com/office/powerpoint/2010/main" val="1701969069"/>
      </p:ext>
    </p:extLst>
  </p:cSld>
</p:sld>
</file>

<file path=ppt/slides/slide3.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D9BD784-F0AA-4E29-9E14-E26C86A95B79}"/>
              </a:ext>
            </a:extLst>
          </p:cNvPr>
          <p:cNvSpPr>
            <a:spLocks xmlns:a="http://schemas.openxmlformats.org/drawingml/2006/main" noGrp="1"/>
          </p:cNvSpPr>
          <p:nvPr/>
        </p:nvSpPr>
        <p:spPr>
          <a:xfrm xmlns:a="http://schemas.openxmlformats.org/drawingml/2006/main">
            <a:off x="609600" y="2476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200" b="1">
                <a:solidFill>
                  <a:srgbClr val="F5B942"/>
                </a:solidFill>
                <a:latin typeface="Arial"/>
                <a:ea typeface="Arial"/>
                <a:cs typeface="Arial"/>
              </a:rPr>
              <a:t>TABLEKEEPER · PROOFLINE FACTORY</a:t>
            </a:r>
          </a:p>
        </p:txBody>
      </p:sp>
      <p:sp>
        <p:nvSpPr>
          <p:cNvPr id="2" name="">
            <a:extLst xmlns:a="http://schemas.openxmlformats.org/drawingml/2006/main">
              <a:ext uri="{FF2B5EF4-FFF2-40B4-BE49-F238E27FC236}">
                <a16:creationId xmlns:a16="http://schemas.microsoft.com/office/drawing/2014/main" id="{1EB14232-67C4-42F4-B5FC-D57468A2595D}"/>
              </a:ext>
            </a:extLst>
          </p:cNvPr>
          <p:cNvSpPr>
            <a:spLocks xmlns:a="http://schemas.openxmlformats.org/drawingml/2006/main" noGrp="1"/>
          </p:cNvSpPr>
          <p:nvPr/>
        </p:nvSpPr>
        <p:spPr>
          <a:xfrm xmlns:a="http://schemas.openxmlformats.org/drawingml/2006/main">
            <a:off x="609600" y="8382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3450" b="1">
                <a:solidFill>
                  <a:srgbClr val="F4F7FB"/>
                </a:solidFill>
                <a:latin typeface="Arial"/>
                <a:ea typeface="Arial"/>
                <a:cs typeface="Arial"/>
              </a:rPr>
              <a:t>Independent review changed the code</a:t>
            </a:r>
          </a:p>
        </p:txBody>
      </p:sp>
      <p:sp>
        <p:nvSpPr>
          <p:cNvPr id="3" name="">
            <a:extLst xmlns:a="http://schemas.openxmlformats.org/drawingml/2006/main">
              <a:ext uri="{FF2B5EF4-FFF2-40B4-BE49-F238E27FC236}">
                <a16:creationId xmlns:a16="http://schemas.microsoft.com/office/drawing/2014/main" id="{6C94C46E-A353-4817-B387-DCF34ACE5E1E}"/>
              </a:ext>
            </a:extLst>
          </p:cNvPr>
          <p:cNvSpPr>
            <a:spLocks xmlns:a="http://schemas.openxmlformats.org/drawingml/2006/main" noGrp="1"/>
          </p:cNvSpPr>
          <p:nvPr/>
        </p:nvSpPr>
        <p:spPr>
          <a:xfrm xmlns:a="http://schemas.openxmlformats.org/drawingml/2006/main">
            <a:off x="609600" y="6210300"/>
            <a:ext cx="10972800" cy="19050"/>
          </a:xfrm>
          <a:prstGeom xmlns:a="http://schemas.openxmlformats.org/drawingml/2006/main" prst="rect">
            <a:avLst/>
          </a:prstGeom>
          <a:solidFill xmlns:a="http://schemas.openxmlformats.org/drawingml/2006/main">
            <a:srgbClr val="45536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6C82DB-AD48-4FFD-BD54-1424B0EEA0C5}"/>
              </a:ext>
            </a:extLst>
          </p:cNvPr>
          <p:cNvSpPr>
            <a:spLocks xmlns:a="http://schemas.openxmlformats.org/drawingml/2006/main" noGrp="1"/>
          </p:cNvSpPr>
          <p:nvPr/>
        </p:nvSpPr>
        <p:spPr>
          <a:xfrm xmlns:a="http://schemas.openxmlformats.org/drawingml/2006/main">
            <a:off x="609600" y="6343650"/>
            <a:ext cx="704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425" b="0">
                <a:solidFill>
                  <a:srgbClr val="A5B3C6"/>
                </a:solidFill>
                <a:latin typeface="Arial"/>
                <a:ea typeface="Arial"/>
                <a:cs typeface="Arial"/>
              </a:rPr>
              <a:t>Tablekeeper V2 · 03 / 06</a:t>
            </a:r>
          </a:p>
        </p:txBody>
      </p:sp>
      <p:sp>
        <p:nvSpPr>
          <p:cNvPr id="5" name="">
            <a:extLst xmlns:a="http://schemas.openxmlformats.org/drawingml/2006/main">
              <a:ext uri="{FF2B5EF4-FFF2-40B4-BE49-F238E27FC236}">
                <a16:creationId xmlns:a16="http://schemas.microsoft.com/office/drawing/2014/main" id="{260DD8CF-2134-4784-8E9F-0A1854FFF118}"/>
              </a:ext>
            </a:extLst>
          </p:cNvPr>
          <p:cNvSpPr>
            <a:spLocks xmlns:a="http://schemas.openxmlformats.org/drawingml/2006/main" noGrp="1"/>
          </p:cNvSpPr>
          <p:nvPr/>
        </p:nvSpPr>
        <p:spPr>
          <a:xfrm xmlns:a="http://schemas.openxmlformats.org/drawingml/2006/main">
            <a:off x="10382250" y="6343650"/>
            <a:ext cx="1200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425" b="0">
                <a:solidFill>
                  <a:srgbClr val="A5B3C6"/>
                </a:solidFill>
                <a:latin typeface="Arial"/>
                <a:ea typeface="Arial"/>
                <a:cs typeface="Arial"/>
              </a:rPr>
              <a:t>96ab4b8</a:t>
            </a:r>
          </a:p>
        </p:txBody>
      </p:sp>
      <p:sp>
        <p:nvSpPr>
          <p:cNvPr id="6" name="">
            <a:extLst xmlns:a="http://schemas.openxmlformats.org/drawingml/2006/main">
              <a:ext uri="{FF2B5EF4-FFF2-40B4-BE49-F238E27FC236}">
                <a16:creationId xmlns:a16="http://schemas.microsoft.com/office/drawing/2014/main" id="{FD7C1F76-3C58-40D5-BCD6-0B77753B78AA}"/>
              </a:ext>
            </a:extLst>
          </p:cNvPr>
          <p:cNvSpPr>
            <a:spLocks xmlns:a="http://schemas.openxmlformats.org/drawingml/2006/main" noGrp="1"/>
          </p:cNvSpPr>
          <p:nvPr/>
        </p:nvSpPr>
        <p:spPr>
          <a:xfrm xmlns:a="http://schemas.openxmlformats.org/drawingml/2006/main">
            <a:off x="609600" y="22002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2175" b="1">
                <a:solidFill>
                  <a:srgbClr val="F4F7FB"/>
                </a:solidFill>
                <a:latin typeface="Arial"/>
                <a:ea typeface="Arial"/>
                <a:cs typeface="Arial"/>
              </a:rPr>
              <a:t>01  Public harness</a:t>
            </a:r>
          </a:p>
        </p:txBody>
      </p:sp>
      <p:sp>
        <p:nvSpPr>
          <p:cNvPr id="7" name="">
            <a:extLst xmlns:a="http://schemas.openxmlformats.org/drawingml/2006/main">
              <a:ext uri="{FF2B5EF4-FFF2-40B4-BE49-F238E27FC236}">
                <a16:creationId xmlns:a16="http://schemas.microsoft.com/office/drawing/2014/main" id="{029F6047-E516-44C7-899A-1E95659770A4}"/>
              </a:ext>
            </a:extLst>
          </p:cNvPr>
          <p:cNvSpPr>
            <a:spLocks xmlns:a="http://schemas.openxmlformats.org/drawingml/2006/main" noGrp="1"/>
          </p:cNvSpPr>
          <p:nvPr/>
        </p:nvSpPr>
        <p:spPr>
          <a:xfrm xmlns:a="http://schemas.openxmlformats.org/drawingml/2006/main">
            <a:off x="6324600" y="2200275"/>
            <a:ext cx="5257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875" b="0">
                <a:solidFill>
                  <a:srgbClr val="F5B942"/>
                </a:solidFill>
                <a:latin typeface="Arial"/>
                <a:ea typeface="Arial"/>
                <a:cs typeface="Arial"/>
              </a:rPr>
              <a:t>Passed the earlier revision</a:t>
            </a:r>
          </a:p>
        </p:txBody>
      </p:sp>
      <p:sp>
        <p:nvSpPr>
          <p:cNvPr id="8" name="">
            <a:extLst xmlns:a="http://schemas.openxmlformats.org/drawingml/2006/main">
              <a:ext uri="{FF2B5EF4-FFF2-40B4-BE49-F238E27FC236}">
                <a16:creationId xmlns:a16="http://schemas.microsoft.com/office/drawing/2014/main" id="{656A8F7D-ADCF-4637-BF03-10C45D1F736E}"/>
              </a:ext>
            </a:extLst>
          </p:cNvPr>
          <p:cNvSpPr>
            <a:spLocks xmlns:a="http://schemas.openxmlformats.org/drawingml/2006/main" noGrp="1"/>
          </p:cNvSpPr>
          <p:nvPr/>
        </p:nvSpPr>
        <p:spPr>
          <a:xfrm xmlns:a="http://schemas.openxmlformats.org/drawingml/2006/main">
            <a:off x="609600" y="2800350"/>
            <a:ext cx="10972800" cy="19050"/>
          </a:xfrm>
          <a:prstGeom xmlns:a="http://schemas.openxmlformats.org/drawingml/2006/main" prst="rect">
            <a:avLst/>
          </a:prstGeom>
          <a:solidFill xmlns:a="http://schemas.openxmlformats.org/drawingml/2006/main">
            <a:srgbClr val="45536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D963FCA-521D-498A-8970-C4EA3F61956F}"/>
              </a:ext>
            </a:extLst>
          </p:cNvPr>
          <p:cNvSpPr>
            <a:spLocks xmlns:a="http://schemas.openxmlformats.org/drawingml/2006/main" noGrp="1"/>
          </p:cNvSpPr>
          <p:nvPr/>
        </p:nvSpPr>
        <p:spPr>
          <a:xfrm xmlns:a="http://schemas.openxmlformats.org/drawingml/2006/main">
            <a:off x="609600" y="30384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2175" b="1">
                <a:solidFill>
                  <a:srgbClr val="F4F7FB"/>
                </a:solidFill>
                <a:latin typeface="Arial"/>
                <a:ea typeface="Arial"/>
                <a:cs typeface="Arial"/>
              </a:rPr>
              <a:t>02  Independent review</a:t>
            </a:r>
          </a:p>
        </p:txBody>
      </p:sp>
      <p:sp>
        <p:nvSpPr>
          <p:cNvPr id="10" name="">
            <a:extLst xmlns:a="http://schemas.openxmlformats.org/drawingml/2006/main">
              <a:ext uri="{FF2B5EF4-FFF2-40B4-BE49-F238E27FC236}">
                <a16:creationId xmlns:a16="http://schemas.microsoft.com/office/drawing/2014/main" id="{5E8B256B-1248-4F99-84D6-E1B8A1913756}"/>
              </a:ext>
            </a:extLst>
          </p:cNvPr>
          <p:cNvSpPr>
            <a:spLocks xmlns:a="http://schemas.openxmlformats.org/drawingml/2006/main" noGrp="1"/>
          </p:cNvSpPr>
          <p:nvPr/>
        </p:nvSpPr>
        <p:spPr>
          <a:xfrm xmlns:a="http://schemas.openxmlformats.org/drawingml/2006/main">
            <a:off x="6324600" y="3038475"/>
            <a:ext cx="5257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875" b="0">
                <a:solidFill>
                  <a:srgbClr val="F5B942"/>
                </a:solidFill>
                <a:latin typeface="Arial"/>
                <a:ea typeface="Arial"/>
                <a:cs typeface="Arial"/>
              </a:rPr>
              <a:t>Found a tampered-plan import defect</a:t>
            </a:r>
          </a:p>
        </p:txBody>
      </p:sp>
      <p:sp>
        <p:nvSpPr>
          <p:cNvPr id="11" name="">
            <a:extLst xmlns:a="http://schemas.openxmlformats.org/drawingml/2006/main">
              <a:ext uri="{FF2B5EF4-FFF2-40B4-BE49-F238E27FC236}">
                <a16:creationId xmlns:a16="http://schemas.microsoft.com/office/drawing/2014/main" id="{974528A9-C293-4498-BAAD-CE86E8C1263C}"/>
              </a:ext>
            </a:extLst>
          </p:cNvPr>
          <p:cNvSpPr>
            <a:spLocks xmlns:a="http://schemas.openxmlformats.org/drawingml/2006/main" noGrp="1"/>
          </p:cNvSpPr>
          <p:nvPr/>
        </p:nvSpPr>
        <p:spPr>
          <a:xfrm xmlns:a="http://schemas.openxmlformats.org/drawingml/2006/main">
            <a:off x="609600" y="3638550"/>
            <a:ext cx="10972800" cy="19050"/>
          </a:xfrm>
          <a:prstGeom xmlns:a="http://schemas.openxmlformats.org/drawingml/2006/main" prst="rect">
            <a:avLst/>
          </a:prstGeom>
          <a:solidFill xmlns:a="http://schemas.openxmlformats.org/drawingml/2006/main">
            <a:srgbClr val="45536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6D529E8-D8F9-4CFF-BDAF-3E1E10E7E8E5}"/>
              </a:ext>
            </a:extLst>
          </p:cNvPr>
          <p:cNvSpPr>
            <a:spLocks xmlns:a="http://schemas.openxmlformats.org/drawingml/2006/main" noGrp="1"/>
          </p:cNvSpPr>
          <p:nvPr/>
        </p:nvSpPr>
        <p:spPr>
          <a:xfrm xmlns:a="http://schemas.openxmlformats.org/drawingml/2006/main">
            <a:off x="609600" y="38766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2175" b="1">
                <a:solidFill>
                  <a:srgbClr val="F4F7FB"/>
                </a:solidFill>
                <a:latin typeface="Arial"/>
                <a:ea typeface="Arial"/>
                <a:cs typeface="Arial"/>
              </a:rPr>
              <a:t>03  Builder correction</a:t>
            </a:r>
          </a:p>
        </p:txBody>
      </p:sp>
      <p:sp>
        <p:nvSpPr>
          <p:cNvPr id="13" name="">
            <a:extLst xmlns:a="http://schemas.openxmlformats.org/drawingml/2006/main">
              <a:ext uri="{FF2B5EF4-FFF2-40B4-BE49-F238E27FC236}">
                <a16:creationId xmlns:a16="http://schemas.microsoft.com/office/drawing/2014/main" id="{075352F6-9371-4A48-B5EF-F78B223F8E59}"/>
              </a:ext>
            </a:extLst>
          </p:cNvPr>
          <p:cNvSpPr>
            <a:spLocks xmlns:a="http://schemas.openxmlformats.org/drawingml/2006/main" noGrp="1"/>
          </p:cNvSpPr>
          <p:nvPr/>
        </p:nvSpPr>
        <p:spPr>
          <a:xfrm xmlns:a="http://schemas.openxmlformats.org/drawingml/2006/main">
            <a:off x="6324600" y="3876675"/>
            <a:ext cx="5257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875" b="0">
                <a:solidFill>
                  <a:srgbClr val="F5B942"/>
                </a:solidFill>
                <a:latin typeface="Arial"/>
                <a:ea typeface="Arial"/>
                <a:cs typeface="Arial"/>
              </a:rPr>
              <a:t>Invalid import: 422; no state change</a:t>
            </a:r>
          </a:p>
        </p:txBody>
      </p:sp>
      <p:sp>
        <p:nvSpPr>
          <p:cNvPr id="14" name="">
            <a:extLst xmlns:a="http://schemas.openxmlformats.org/drawingml/2006/main">
              <a:ext uri="{FF2B5EF4-FFF2-40B4-BE49-F238E27FC236}">
                <a16:creationId xmlns:a16="http://schemas.microsoft.com/office/drawing/2014/main" id="{4CE47B9D-6BBE-4A47-BE23-8C7775A9B17C}"/>
              </a:ext>
            </a:extLst>
          </p:cNvPr>
          <p:cNvSpPr>
            <a:spLocks xmlns:a="http://schemas.openxmlformats.org/drawingml/2006/main" noGrp="1"/>
          </p:cNvSpPr>
          <p:nvPr/>
        </p:nvSpPr>
        <p:spPr>
          <a:xfrm xmlns:a="http://schemas.openxmlformats.org/drawingml/2006/main">
            <a:off x="609600" y="4476750"/>
            <a:ext cx="10972800" cy="19050"/>
          </a:xfrm>
          <a:prstGeom xmlns:a="http://schemas.openxmlformats.org/drawingml/2006/main" prst="rect">
            <a:avLst/>
          </a:prstGeom>
          <a:solidFill xmlns:a="http://schemas.openxmlformats.org/drawingml/2006/main">
            <a:srgbClr val="45536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5B8F0B0-E76B-495C-ADFF-9D38F68349B2}"/>
              </a:ext>
            </a:extLst>
          </p:cNvPr>
          <p:cNvSpPr>
            <a:spLocks xmlns:a="http://schemas.openxmlformats.org/drawingml/2006/main" noGrp="1"/>
          </p:cNvSpPr>
          <p:nvPr/>
        </p:nvSpPr>
        <p:spPr>
          <a:xfrm xmlns:a="http://schemas.openxmlformats.org/drawingml/2006/main">
            <a:off x="609600" y="47148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2175" b="1">
                <a:solidFill>
                  <a:srgbClr val="F4F7FB"/>
                </a:solidFill>
                <a:latin typeface="Arial"/>
                <a:ea typeface="Arial"/>
                <a:cs typeface="Arial"/>
              </a:rPr>
              <a:t>04  Exact-revision review</a:t>
            </a:r>
          </a:p>
        </p:txBody>
      </p:sp>
      <p:sp>
        <p:nvSpPr>
          <p:cNvPr id="16" name="">
            <a:extLst xmlns:a="http://schemas.openxmlformats.org/drawingml/2006/main">
              <a:ext uri="{FF2B5EF4-FFF2-40B4-BE49-F238E27FC236}">
                <a16:creationId xmlns:a16="http://schemas.microsoft.com/office/drawing/2014/main" id="{6C8928FF-D630-4D6F-93BD-28C8B1D398CC}"/>
              </a:ext>
            </a:extLst>
          </p:cNvPr>
          <p:cNvSpPr>
            <a:spLocks xmlns:a="http://schemas.openxmlformats.org/drawingml/2006/main" noGrp="1"/>
          </p:cNvSpPr>
          <p:nvPr/>
        </p:nvSpPr>
        <p:spPr>
          <a:xfrm xmlns:a="http://schemas.openxmlformats.org/drawingml/2006/main">
            <a:off x="6324600" y="4714875"/>
            <a:ext cx="5257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875" b="0">
                <a:solidFill>
                  <a:srgbClr val="F5B942"/>
                </a:solidFill>
                <a:latin typeface="Arial"/>
                <a:ea typeface="Arial"/>
                <a:cs typeface="Arial"/>
              </a:rPr>
              <a:t>ACCEPT at 96ab4b8</a:t>
            </a:r>
          </a:p>
        </p:txBody>
      </p:sp>
      <p:sp>
        <p:nvSpPr>
          <p:cNvPr id="17" name="">
            <a:extLst xmlns:a="http://schemas.openxmlformats.org/drawingml/2006/main">
              <a:ext uri="{FF2B5EF4-FFF2-40B4-BE49-F238E27FC236}">
                <a16:creationId xmlns:a16="http://schemas.microsoft.com/office/drawing/2014/main" id="{2E331FAC-9535-4241-8DFD-7992263C0ACE}"/>
              </a:ext>
            </a:extLst>
          </p:cNvPr>
          <p:cNvSpPr>
            <a:spLocks xmlns:a="http://schemas.openxmlformats.org/drawingml/2006/main" noGrp="1"/>
          </p:cNvSpPr>
          <p:nvPr/>
        </p:nvSpPr>
        <p:spPr>
          <a:xfrm xmlns:a="http://schemas.openxmlformats.org/drawingml/2006/main">
            <a:off x="609600" y="57531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725" b="0">
                <a:solidFill>
                  <a:srgbClr val="A5B3C6"/>
                </a:solidFill>
                <a:latin typeface="Arial"/>
                <a:ea typeface="Arial"/>
                <a:cs typeface="Arial"/>
              </a:rPr>
              <a:t>Original rejection, correction and acceptance preserved in the room</a:t>
            </a:r>
          </a:p>
        </p:txBody>
      </p:sp>
    </p:spTree>
    <p:extLst>
      <p:ext uri="{BB962C8B-B14F-4D97-AF65-F5344CB8AC3E}">
        <p14:creationId xmlns:p14="http://schemas.microsoft.com/office/powerpoint/2010/main" val="1950261804"/>
      </p:ext>
    </p:extLst>
  </p:cSld>
</p:sld>
</file>

<file path=ppt/slides/slide4.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5A75FDF-AEF8-4F79-9EEA-A99A35CAF648}"/>
              </a:ext>
            </a:extLst>
          </p:cNvPr>
          <p:cNvSpPr>
            <a:spLocks xmlns:a="http://schemas.openxmlformats.org/drawingml/2006/main" noGrp="1"/>
          </p:cNvSpPr>
          <p:nvPr/>
        </p:nvSpPr>
        <p:spPr>
          <a:xfrm xmlns:a="http://schemas.openxmlformats.org/drawingml/2006/main">
            <a:off x="609600" y="2476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200" b="1">
                <a:solidFill>
                  <a:srgbClr val="F5B942"/>
                </a:solidFill>
                <a:latin typeface="Arial"/>
                <a:ea typeface="Arial"/>
                <a:cs typeface="Arial"/>
              </a:rPr>
              <a:t>TABLEKEEPER · PROOFLINE FACTORY</a:t>
            </a:r>
          </a:p>
        </p:txBody>
      </p:sp>
      <p:sp>
        <p:nvSpPr>
          <p:cNvPr id="2" name="">
            <a:extLst xmlns:a="http://schemas.openxmlformats.org/drawingml/2006/main">
              <a:ext uri="{FF2B5EF4-FFF2-40B4-BE49-F238E27FC236}">
                <a16:creationId xmlns:a16="http://schemas.microsoft.com/office/drawing/2014/main" id="{16B7537C-D9DA-4EF1-9949-BB866546EAE0}"/>
              </a:ext>
            </a:extLst>
          </p:cNvPr>
          <p:cNvSpPr>
            <a:spLocks xmlns:a="http://schemas.openxmlformats.org/drawingml/2006/main" noGrp="1"/>
          </p:cNvSpPr>
          <p:nvPr/>
        </p:nvSpPr>
        <p:spPr>
          <a:xfrm xmlns:a="http://schemas.openxmlformats.org/drawingml/2006/main">
            <a:off x="609600" y="8382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3450" b="1">
                <a:solidFill>
                  <a:srgbClr val="F4F7FB"/>
                </a:solidFill>
                <a:latin typeface="Arial"/>
                <a:ea typeface="Arial"/>
                <a:cs typeface="Arial"/>
              </a:rPr>
              <a:t>A complete service at each stage</a:t>
            </a:r>
          </a:p>
        </p:txBody>
      </p:sp>
      <p:sp>
        <p:nvSpPr>
          <p:cNvPr id="3" name="">
            <a:extLst xmlns:a="http://schemas.openxmlformats.org/drawingml/2006/main">
              <a:ext uri="{FF2B5EF4-FFF2-40B4-BE49-F238E27FC236}">
                <a16:creationId xmlns:a16="http://schemas.microsoft.com/office/drawing/2014/main" id="{53417C45-1E12-49A8-8F5F-CA509D1C538C}"/>
              </a:ext>
            </a:extLst>
          </p:cNvPr>
          <p:cNvSpPr>
            <a:spLocks xmlns:a="http://schemas.openxmlformats.org/drawingml/2006/main" noGrp="1"/>
          </p:cNvSpPr>
          <p:nvPr/>
        </p:nvSpPr>
        <p:spPr>
          <a:xfrm xmlns:a="http://schemas.openxmlformats.org/drawingml/2006/main">
            <a:off x="609600" y="6210300"/>
            <a:ext cx="10972800" cy="19050"/>
          </a:xfrm>
          <a:prstGeom xmlns:a="http://schemas.openxmlformats.org/drawingml/2006/main" prst="rect">
            <a:avLst/>
          </a:prstGeom>
          <a:solidFill xmlns:a="http://schemas.openxmlformats.org/drawingml/2006/main">
            <a:srgbClr val="45536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FE83E12-D615-42CF-9D29-33B23DDDCF89}"/>
              </a:ext>
            </a:extLst>
          </p:cNvPr>
          <p:cNvSpPr>
            <a:spLocks xmlns:a="http://schemas.openxmlformats.org/drawingml/2006/main" noGrp="1"/>
          </p:cNvSpPr>
          <p:nvPr/>
        </p:nvSpPr>
        <p:spPr>
          <a:xfrm xmlns:a="http://schemas.openxmlformats.org/drawingml/2006/main">
            <a:off x="609600" y="6343650"/>
            <a:ext cx="704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425" b="0">
                <a:solidFill>
                  <a:srgbClr val="A5B3C6"/>
                </a:solidFill>
                <a:latin typeface="Arial"/>
                <a:ea typeface="Arial"/>
                <a:cs typeface="Arial"/>
              </a:rPr>
              <a:t>Tablekeeper V2 · 04 / 06</a:t>
            </a:r>
          </a:p>
        </p:txBody>
      </p:sp>
      <p:sp>
        <p:nvSpPr>
          <p:cNvPr id="5" name="">
            <a:extLst xmlns:a="http://schemas.openxmlformats.org/drawingml/2006/main">
              <a:ext uri="{FF2B5EF4-FFF2-40B4-BE49-F238E27FC236}">
                <a16:creationId xmlns:a16="http://schemas.microsoft.com/office/drawing/2014/main" id="{B381F56A-54BC-4D21-A835-566A3B9C2CD8}"/>
              </a:ext>
            </a:extLst>
          </p:cNvPr>
          <p:cNvSpPr>
            <a:spLocks xmlns:a="http://schemas.openxmlformats.org/drawingml/2006/main" noGrp="1"/>
          </p:cNvSpPr>
          <p:nvPr/>
        </p:nvSpPr>
        <p:spPr>
          <a:xfrm xmlns:a="http://schemas.openxmlformats.org/drawingml/2006/main">
            <a:off x="10382250" y="6343650"/>
            <a:ext cx="1200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425" b="0">
                <a:solidFill>
                  <a:srgbClr val="A5B3C6"/>
                </a:solidFill>
                <a:latin typeface="Arial"/>
                <a:ea typeface="Arial"/>
                <a:cs typeface="Arial"/>
              </a:rPr>
              <a:t>96ab4b8</a:t>
            </a:r>
          </a:p>
        </p:txBody>
      </p:sp>
      <p:sp>
        <p:nvSpPr>
          <p:cNvPr id="6" name="">
            <a:extLst xmlns:a="http://schemas.openxmlformats.org/drawingml/2006/main">
              <a:ext uri="{FF2B5EF4-FFF2-40B4-BE49-F238E27FC236}">
                <a16:creationId xmlns:a16="http://schemas.microsoft.com/office/drawing/2014/main" id="{E758D766-F717-4D2B-962C-94A363620E74}"/>
              </a:ext>
            </a:extLst>
          </p:cNvPr>
          <p:cNvSpPr>
            <a:spLocks xmlns:a="http://schemas.openxmlformats.org/drawingml/2006/main" noGrp="1"/>
          </p:cNvSpPr>
          <p:nvPr/>
        </p:nvSpPr>
        <p:spPr>
          <a:xfrm xmlns:a="http://schemas.openxmlformats.org/drawingml/2006/main">
            <a:off x="609600" y="2200275"/>
            <a:ext cx="7000875" cy="2724150"/>
          </a:xfrm>
          <a:prstGeom xmlns:a="http://schemas.openxmlformats.org/drawingml/2006/main" prst="rect">
            <a:avLst/>
          </a:prstGeom>
          <a:noFill xmlns:a="http://schemas.openxmlformats.org/drawingml/2006/main"/>
          <a:ln xmlns:a="http://schemas.openxmlformats.org/drawingml/2006/main" w="19050">
            <a:solidFill>
              <a:srgbClr val="45536B"/>
            </a:solidFill>
          </a:ln>
        </p:spPr>
      </p:sp>
      <p:sp>
        <p:nvSpPr>
          <p:cNvPr id="7" name="">
            <a:extLst xmlns:a="http://schemas.openxmlformats.org/drawingml/2006/main">
              <a:ext uri="{FF2B5EF4-FFF2-40B4-BE49-F238E27FC236}">
                <a16:creationId xmlns:a16="http://schemas.microsoft.com/office/drawing/2014/main" id="{2AE01489-D703-4226-B3BE-42B6876FEA6E}"/>
              </a:ext>
            </a:extLst>
          </p:cNvPr>
          <p:cNvSpPr>
            <a:spLocks xmlns:a="http://schemas.openxmlformats.org/drawingml/2006/main" noGrp="1"/>
          </p:cNvSpPr>
          <p:nvPr/>
        </p:nvSpPr>
        <p:spPr>
          <a:xfrm xmlns:a="http://schemas.openxmlformats.org/drawingml/2006/main">
            <a:off x="838200" y="2466975"/>
            <a:ext cx="6543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800" b="1">
                <a:solidFill>
                  <a:srgbClr val="F5B942"/>
                </a:solidFill>
                <a:latin typeface="Arial"/>
                <a:ea typeface="Arial"/>
                <a:cs typeface="Arial"/>
              </a:rPr>
              <a:t>FOUR STAGE FOLDERS</a:t>
            </a:r>
          </a:p>
        </p:txBody>
      </p:sp>
      <p:sp>
        <p:nvSpPr>
          <p:cNvPr id="8" name="">
            <a:extLst xmlns:a="http://schemas.openxmlformats.org/drawingml/2006/main">
              <a:ext uri="{FF2B5EF4-FFF2-40B4-BE49-F238E27FC236}">
                <a16:creationId xmlns:a16="http://schemas.microsoft.com/office/drawing/2014/main" id="{0702BA28-67B5-4385-926A-31342C30A8DB}"/>
              </a:ext>
            </a:extLst>
          </p:cNvPr>
          <p:cNvSpPr>
            <a:spLocks xmlns:a="http://schemas.openxmlformats.org/drawingml/2006/main" noGrp="1"/>
          </p:cNvSpPr>
          <p:nvPr/>
        </p:nvSpPr>
        <p:spPr>
          <a:xfrm xmlns:a="http://schemas.openxmlformats.org/drawingml/2006/main">
            <a:off x="838200" y="3067050"/>
            <a:ext cx="65436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2550" b="1">
                <a:solidFill>
                  <a:srgbClr val="F4F7FB"/>
                </a:solidFill>
                <a:latin typeface="Arial"/>
                <a:ea typeface="Arial"/>
                <a:cs typeface="Arial"/>
              </a:rPr>
              <a:t>Docker service</a:t>
            </a:r>
          </a:p>
        </p:txBody>
      </p:sp>
      <p:sp>
        <p:nvSpPr>
          <p:cNvPr id="9" name="">
            <a:extLst xmlns:a="http://schemas.openxmlformats.org/drawingml/2006/main">
              <a:ext uri="{FF2B5EF4-FFF2-40B4-BE49-F238E27FC236}">
                <a16:creationId xmlns:a16="http://schemas.microsoft.com/office/drawing/2014/main" id="{D5C51C94-9549-47F1-92F8-E1A7546534A2}"/>
              </a:ext>
            </a:extLst>
          </p:cNvPr>
          <p:cNvSpPr>
            <a:spLocks xmlns:a="http://schemas.openxmlformats.org/drawingml/2006/main" noGrp="1"/>
          </p:cNvSpPr>
          <p:nvPr/>
        </p:nvSpPr>
        <p:spPr>
          <a:xfrm xmlns:a="http://schemas.openxmlformats.org/drawingml/2006/main">
            <a:off x="838200" y="4114800"/>
            <a:ext cx="65436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650" b="0">
                <a:solidFill>
                  <a:srgbClr val="A5B3C6"/>
                </a:solidFill>
                <a:latin typeface="Arial"/>
                <a:ea typeface="Arial"/>
                <a:cs typeface="Arial"/>
              </a:rPr>
              <a:t>Browser UI, contract API and /health readiness</a:t>
            </a:r>
          </a:p>
        </p:txBody>
      </p:sp>
      <p:sp>
        <p:nvSpPr>
          <p:cNvPr id="10" name="">
            <a:extLst xmlns:a="http://schemas.openxmlformats.org/drawingml/2006/main">
              <a:ext uri="{FF2B5EF4-FFF2-40B4-BE49-F238E27FC236}">
                <a16:creationId xmlns:a16="http://schemas.microsoft.com/office/drawing/2014/main" id="{FCC2D392-EFCE-4A14-8D4C-AD1F09C25AC4}"/>
              </a:ext>
            </a:extLst>
          </p:cNvPr>
          <p:cNvSpPr>
            <a:spLocks xmlns:a="http://schemas.openxmlformats.org/drawingml/2006/main" noGrp="1"/>
          </p:cNvSpPr>
          <p:nvPr/>
        </p:nvSpPr>
        <p:spPr>
          <a:xfrm xmlns:a="http://schemas.openxmlformats.org/drawingml/2006/main">
            <a:off x="7915275" y="2200275"/>
            <a:ext cx="3667125" cy="2724150"/>
          </a:xfrm>
          <a:prstGeom xmlns:a="http://schemas.openxmlformats.org/drawingml/2006/main" prst="rect">
            <a:avLst/>
          </a:prstGeom>
          <a:noFill xmlns:a="http://schemas.openxmlformats.org/drawingml/2006/main"/>
          <a:ln xmlns:a="http://schemas.openxmlformats.org/drawingml/2006/main" w="19050">
            <a:solidFill>
              <a:srgbClr val="45536B"/>
            </a:solidFill>
          </a:ln>
        </p:spPr>
      </p:sp>
      <p:sp>
        <p:nvSpPr>
          <p:cNvPr id="11" name="">
            <a:extLst xmlns:a="http://schemas.openxmlformats.org/drawingml/2006/main">
              <a:ext uri="{FF2B5EF4-FFF2-40B4-BE49-F238E27FC236}">
                <a16:creationId xmlns:a16="http://schemas.microsoft.com/office/drawing/2014/main" id="{82991B4C-0AD9-49D5-AA48-B4167541459F}"/>
              </a:ext>
            </a:extLst>
          </p:cNvPr>
          <p:cNvSpPr>
            <a:spLocks xmlns:a="http://schemas.openxmlformats.org/drawingml/2006/main" noGrp="1"/>
          </p:cNvSpPr>
          <p:nvPr/>
        </p:nvSpPr>
        <p:spPr>
          <a:xfrm xmlns:a="http://schemas.openxmlformats.org/drawingml/2006/main">
            <a:off x="8143875" y="2466975"/>
            <a:ext cx="3209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800" b="1">
                <a:solidFill>
                  <a:srgbClr val="F5B942"/>
                </a:solidFill>
                <a:latin typeface="Arial"/>
                <a:ea typeface="Arial"/>
                <a:cs typeface="Arial"/>
              </a:rPr>
              <a:t>STATE HANDLING</a:t>
            </a:r>
          </a:p>
        </p:txBody>
      </p:sp>
      <p:sp>
        <p:nvSpPr>
          <p:cNvPr id="12" name="">
            <a:extLst xmlns:a="http://schemas.openxmlformats.org/drawingml/2006/main">
              <a:ext uri="{FF2B5EF4-FFF2-40B4-BE49-F238E27FC236}">
                <a16:creationId xmlns:a16="http://schemas.microsoft.com/office/drawing/2014/main" id="{7D3AE49D-71BE-406F-9FF3-A4F5710C8A59}"/>
              </a:ext>
            </a:extLst>
          </p:cNvPr>
          <p:cNvSpPr>
            <a:spLocks xmlns:a="http://schemas.openxmlformats.org/drawingml/2006/main" noGrp="1"/>
          </p:cNvSpPr>
          <p:nvPr/>
        </p:nvSpPr>
        <p:spPr>
          <a:xfrm xmlns:a="http://schemas.openxmlformats.org/drawingml/2006/main">
            <a:off x="8143875" y="3067050"/>
            <a:ext cx="32099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2550" b="1">
                <a:solidFill>
                  <a:srgbClr val="F4F7FB"/>
                </a:solidFill>
                <a:latin typeface="Arial"/>
                <a:ea typeface="Arial"/>
                <a:cs typeface="Arial"/>
              </a:rPr>
              <a:t>Atomic import</a:t>
            </a:r>
          </a:p>
          <a:p xmlns:a="http://schemas.openxmlformats.org/drawingml/2006/main">
            <a:r>
              <a:rPr sz="2550" b="1">
                <a:solidFill>
                  <a:srgbClr val="F4F7FB"/>
                </a:solidFill>
                <a:latin typeface="Arial"/>
                <a:ea typeface="Arial"/>
                <a:cs typeface="Arial"/>
              </a:rPr>
              <a:t>and export</a:t>
            </a:r>
          </a:p>
        </p:txBody>
      </p:sp>
      <p:sp>
        <p:nvSpPr>
          <p:cNvPr id="13" name="">
            <a:extLst xmlns:a="http://schemas.openxmlformats.org/drawingml/2006/main">
              <a:ext uri="{FF2B5EF4-FFF2-40B4-BE49-F238E27FC236}">
                <a16:creationId xmlns:a16="http://schemas.microsoft.com/office/drawing/2014/main" id="{D84626B5-91A3-4DEC-B456-400AB0B06D1A}"/>
              </a:ext>
            </a:extLst>
          </p:cNvPr>
          <p:cNvSpPr>
            <a:spLocks xmlns:a="http://schemas.openxmlformats.org/drawingml/2006/main" noGrp="1"/>
          </p:cNvSpPr>
          <p:nvPr/>
        </p:nvSpPr>
        <p:spPr>
          <a:xfrm xmlns:a="http://schemas.openxmlformats.org/drawingml/2006/main">
            <a:off x="8143875" y="4114800"/>
            <a:ext cx="320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650" b="0">
                <a:solidFill>
                  <a:srgbClr val="A5B3C6"/>
                </a:solidFill>
                <a:latin typeface="Arial"/>
                <a:ea typeface="Arial"/>
                <a:cs typeface="Arial"/>
              </a:rPr>
              <a:t>In-memory state</a:t>
            </a:r>
          </a:p>
        </p:txBody>
      </p:sp>
      <p:sp>
        <p:nvSpPr>
          <p:cNvPr id="14" name="">
            <a:extLst xmlns:a="http://schemas.openxmlformats.org/drawingml/2006/main">
              <a:ext uri="{FF2B5EF4-FFF2-40B4-BE49-F238E27FC236}">
                <a16:creationId xmlns:a16="http://schemas.microsoft.com/office/drawing/2014/main" id="{E916B098-E380-4C53-B74C-70A9F7E381D7}"/>
              </a:ext>
            </a:extLst>
          </p:cNvPr>
          <p:cNvSpPr>
            <a:spLocks xmlns:a="http://schemas.openxmlformats.org/drawingml/2006/main" noGrp="1"/>
          </p:cNvSpPr>
          <p:nvPr/>
        </p:nvSpPr>
        <p:spPr>
          <a:xfrm xmlns:a="http://schemas.openxmlformats.org/drawingml/2006/main">
            <a:off x="609600" y="5257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950" b="0">
                <a:solidFill>
                  <a:srgbClr val="F5B942"/>
                </a:solidFill>
                <a:latin typeface="Arial"/>
                <a:ea typeface="Arial"/>
                <a:cs typeface="Arial"/>
              </a:rPr>
              <a:t>No external model or API required at runtime</a:t>
            </a:r>
          </a:p>
        </p:txBody>
      </p:sp>
      <p:sp>
        <p:nvSpPr>
          <p:cNvPr id="15" name="">
            <a:extLst xmlns:a="http://schemas.openxmlformats.org/drawingml/2006/main">
              <a:ext uri="{FF2B5EF4-FFF2-40B4-BE49-F238E27FC236}">
                <a16:creationId xmlns:a16="http://schemas.microsoft.com/office/drawing/2014/main" id="{F04E7276-CD2A-4044-80CC-8E6E4CDE2644}"/>
              </a:ext>
            </a:extLst>
          </p:cNvPr>
          <p:cNvSpPr>
            <a:spLocks xmlns:a="http://schemas.openxmlformats.org/drawingml/2006/main" noGrp="1"/>
          </p:cNvSpPr>
          <p:nvPr/>
        </p:nvSpPr>
        <p:spPr>
          <a:xfrm xmlns:a="http://schemas.openxmlformats.org/drawingml/2006/main">
            <a:off x="609600" y="57435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725" b="0">
                <a:solidFill>
                  <a:srgbClr val="A5B3C6"/>
                </a:solidFill>
                <a:latin typeface="Arial"/>
                <a:ea typeface="Arial"/>
                <a:cs typeface="Arial"/>
              </a:rPr>
              <a:t>Actual post-terminal app capture; synthetic demonstration data</a:t>
            </a:r>
          </a:p>
        </p:txBody>
      </p:sp>
    </p:spTree>
    <p:extLst>
      <p:ext uri="{BB962C8B-B14F-4D97-AF65-F5344CB8AC3E}">
        <p14:creationId xmlns:p14="http://schemas.microsoft.com/office/powerpoint/2010/main" val="1118904743"/>
      </p:ext>
    </p:extLst>
  </p:cSld>
</p:sld>
</file>

<file path=ppt/slides/slide5.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D28C438-4005-4F1B-BEF9-4ECF4FCAC942}"/>
              </a:ext>
            </a:extLst>
          </p:cNvPr>
          <p:cNvSpPr>
            <a:spLocks xmlns:a="http://schemas.openxmlformats.org/drawingml/2006/main" noGrp="1"/>
          </p:cNvSpPr>
          <p:nvPr/>
        </p:nvSpPr>
        <p:spPr>
          <a:xfrm xmlns:a="http://schemas.openxmlformats.org/drawingml/2006/main">
            <a:off x="609600" y="2476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200" b="1">
                <a:solidFill>
                  <a:srgbClr val="F5B942"/>
                </a:solidFill>
                <a:latin typeface="Arial"/>
                <a:ea typeface="Arial"/>
                <a:cs typeface="Arial"/>
              </a:rPr>
              <a:t>TABLEKEEPER · PROOFLINE FACTORY</a:t>
            </a:r>
          </a:p>
        </p:txBody>
      </p:sp>
      <p:sp>
        <p:nvSpPr>
          <p:cNvPr id="2" name="">
            <a:extLst xmlns:a="http://schemas.openxmlformats.org/drawingml/2006/main">
              <a:ext uri="{FF2B5EF4-FFF2-40B4-BE49-F238E27FC236}">
                <a16:creationId xmlns:a16="http://schemas.microsoft.com/office/drawing/2014/main" id="{44D03DA2-0B2C-4CD9-A403-B3BB794C0F57}"/>
              </a:ext>
            </a:extLst>
          </p:cNvPr>
          <p:cNvSpPr>
            <a:spLocks xmlns:a="http://schemas.openxmlformats.org/drawingml/2006/main" noGrp="1"/>
          </p:cNvSpPr>
          <p:nvPr/>
        </p:nvSpPr>
        <p:spPr>
          <a:xfrm xmlns:a="http://schemas.openxmlformats.org/drawingml/2006/main">
            <a:off x="609600" y="8382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3450" b="1">
                <a:solidFill>
                  <a:srgbClr val="F4F7FB"/>
                </a:solidFill>
                <a:latin typeface="Arial"/>
                <a:ea typeface="Arial"/>
                <a:cs typeface="Arial"/>
              </a:rPr>
              <a:t>Public checks tied to the exact revision</a:t>
            </a:r>
          </a:p>
        </p:txBody>
      </p:sp>
      <p:sp>
        <p:nvSpPr>
          <p:cNvPr id="3" name="">
            <a:extLst xmlns:a="http://schemas.openxmlformats.org/drawingml/2006/main">
              <a:ext uri="{FF2B5EF4-FFF2-40B4-BE49-F238E27FC236}">
                <a16:creationId xmlns:a16="http://schemas.microsoft.com/office/drawing/2014/main" id="{466BA824-985B-4510-9A80-0D547F569708}"/>
              </a:ext>
            </a:extLst>
          </p:cNvPr>
          <p:cNvSpPr>
            <a:spLocks xmlns:a="http://schemas.openxmlformats.org/drawingml/2006/main" noGrp="1"/>
          </p:cNvSpPr>
          <p:nvPr/>
        </p:nvSpPr>
        <p:spPr>
          <a:xfrm xmlns:a="http://schemas.openxmlformats.org/drawingml/2006/main">
            <a:off x="609600" y="6210300"/>
            <a:ext cx="10972800" cy="19050"/>
          </a:xfrm>
          <a:prstGeom xmlns:a="http://schemas.openxmlformats.org/drawingml/2006/main" prst="rect">
            <a:avLst/>
          </a:prstGeom>
          <a:solidFill xmlns:a="http://schemas.openxmlformats.org/drawingml/2006/main">
            <a:srgbClr val="45536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10F1BFB-A0FA-4F1D-AD67-9B8B411BC099}"/>
              </a:ext>
            </a:extLst>
          </p:cNvPr>
          <p:cNvSpPr>
            <a:spLocks xmlns:a="http://schemas.openxmlformats.org/drawingml/2006/main" noGrp="1"/>
          </p:cNvSpPr>
          <p:nvPr/>
        </p:nvSpPr>
        <p:spPr>
          <a:xfrm xmlns:a="http://schemas.openxmlformats.org/drawingml/2006/main">
            <a:off x="609600" y="6343650"/>
            <a:ext cx="704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425" b="0">
                <a:solidFill>
                  <a:srgbClr val="A5B3C6"/>
                </a:solidFill>
                <a:latin typeface="Arial"/>
                <a:ea typeface="Arial"/>
                <a:cs typeface="Arial"/>
              </a:rPr>
              <a:t>Tablekeeper V2 · 05 / 06</a:t>
            </a:r>
          </a:p>
        </p:txBody>
      </p:sp>
      <p:sp>
        <p:nvSpPr>
          <p:cNvPr id="5" name="">
            <a:extLst xmlns:a="http://schemas.openxmlformats.org/drawingml/2006/main">
              <a:ext uri="{FF2B5EF4-FFF2-40B4-BE49-F238E27FC236}">
                <a16:creationId xmlns:a16="http://schemas.microsoft.com/office/drawing/2014/main" id="{894CD47D-B5B2-4FD5-B88E-72E8F272366D}"/>
              </a:ext>
            </a:extLst>
          </p:cNvPr>
          <p:cNvSpPr>
            <a:spLocks xmlns:a="http://schemas.openxmlformats.org/drawingml/2006/main" noGrp="1"/>
          </p:cNvSpPr>
          <p:nvPr/>
        </p:nvSpPr>
        <p:spPr>
          <a:xfrm xmlns:a="http://schemas.openxmlformats.org/drawingml/2006/main">
            <a:off x="10382250" y="6343650"/>
            <a:ext cx="1200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425" b="0">
                <a:solidFill>
                  <a:srgbClr val="A5B3C6"/>
                </a:solidFill>
                <a:latin typeface="Arial"/>
                <a:ea typeface="Arial"/>
                <a:cs typeface="Arial"/>
              </a:rPr>
              <a:t>96ab4b8</a:t>
            </a:r>
          </a:p>
        </p:txBody>
      </p:sp>
      <p:graphicFrame>
        <p:nvGraphicFramePr>
          <p:cNvPr id="16" name=""/>
          <p:cNvGraphicFramePr/>
          <p:nvPr/>
        </p:nvGraphicFramePr>
        <p:xfrm>
          <a:off xmlns:a="http://schemas.openxmlformats.org/drawingml/2006/main" x="609600" y="2133600"/>
          <a:ext xmlns:a="http://schemas.openxmlformats.org/drawingml/2006/main" cx="10972800" cy="2781300"/>
        </p:xfrm>
        <a:graphic xmlns:a="http://schemas.openxmlformats.org/drawingml/2006/main">
          <a:graphicData uri="http://schemas.openxmlformats.org/drawingml/2006/table">
            <a:tbl>
              <a:tblPr/>
              <a:tblGrid>
                <a:gridCol w="5476875"/>
                <a:gridCol w="2667000"/>
                <a:gridCol w="2828925"/>
              </a:tblGrid>
              <a:tr h="463550">
                <a:tc>
                  <a:txBody>
                    <a:bodyPr/>
                    <a:lstStyle/>
                    <a:p>
                      <a:r>
                        <a:rPr sz="1800" b="1">
                          <a:solidFill>
                            <a:srgbClr val="F4F7FB"/>
                          </a:solidFill>
                          <a:latin typeface="Arial"/>
                          <a:ea typeface="Arial"/>
                          <a:cs typeface="Arial"/>
                        </a:rPr>
                        <a:t>Evidence</a:t>
                      </a:r>
                    </a:p>
                  </a:txBody>
                  <a:tcPr marL="133350" marR="133350" marT="76200" marB="76200">
                    <a:solidFill>
                      <a:srgbClr val="1B2A40"/>
                    </a:solidFill>
                  </a:tcPr>
                </a:tc>
                <a:tc>
                  <a:txBody>
                    <a:bodyPr/>
                    <a:lstStyle/>
                    <a:p>
                      <a:r>
                        <a:rPr sz="1800" b="1">
                          <a:solidFill>
                            <a:srgbClr val="F4F7FB"/>
                          </a:solidFill>
                          <a:latin typeface="Arial"/>
                          <a:ea typeface="Arial"/>
                          <a:cs typeface="Arial"/>
                        </a:rPr>
                        <a:t>Result</a:t>
                      </a:r>
                    </a:p>
                  </a:txBody>
                  <a:tcPr marL="133350" marR="133350" marT="76200" marB="76200">
                    <a:solidFill>
                      <a:srgbClr val="1B2A40"/>
                    </a:solidFill>
                  </a:tcPr>
                </a:tc>
                <a:tc>
                  <a:txBody>
                    <a:bodyPr/>
                    <a:lstStyle/>
                    <a:p>
                      <a:r>
                        <a:rPr sz="1800" b="1">
                          <a:solidFill>
                            <a:srgbClr val="F4F7FB"/>
                          </a:solidFill>
                          <a:latin typeface="Arial"/>
                          <a:ea typeface="Arial"/>
                          <a:cs typeface="Arial"/>
                        </a:rPr>
                        <a:t>Revision</a:t>
                      </a:r>
                    </a:p>
                  </a:txBody>
                  <a:tcPr marL="133350" marR="133350" marT="76200" marB="76200">
                    <a:solidFill>
                      <a:srgbClr val="1B2A40"/>
                    </a:solidFill>
                  </a:tcPr>
                </a:tc>
              </a:tr>
              <a:tr h="463550">
                <a:tc>
                  <a:txBody>
                    <a:bodyPr/>
                    <a:lstStyle/>
                    <a:p>
                      <a:r>
                        <a:rPr sz="1800">
                          <a:solidFill>
                            <a:srgbClr val="F4F7FB"/>
                          </a:solidFill>
                          <a:latin typeface="Arial"/>
                          <a:ea typeface="Arial"/>
                          <a:cs typeface="Arial"/>
                        </a:rPr>
                        <a:t>Stage 1 isolated</a:t>
                      </a:r>
                    </a:p>
                  </a:txBody>
                  <a:tcPr marL="133350" marR="133350" marT="76200" marB="76200">
                    <a:solidFill>
                      <a:srgbClr val="101827"/>
                    </a:solidFill>
                  </a:tcPr>
                </a:tc>
                <a:tc>
                  <a:txBody>
                    <a:bodyPr/>
                    <a:lstStyle/>
                    <a:p>
                      <a:r>
                        <a:rPr sz="1800">
                          <a:solidFill>
                            <a:srgbClr val="F5B942"/>
                          </a:solidFill>
                          <a:latin typeface="Arial"/>
                          <a:ea typeface="Arial"/>
                          <a:cs typeface="Arial"/>
                        </a:rPr>
                        <a:t>PASS</a:t>
                      </a:r>
                    </a:p>
                  </a:txBody>
                  <a:tcPr marL="133350" marR="133350" marT="76200" marB="76200">
                    <a:solidFill>
                      <a:srgbClr val="101827"/>
                    </a:solidFill>
                  </a:tcPr>
                </a:tc>
                <a:tc>
                  <a:txBody>
                    <a:bodyPr/>
                    <a:lstStyle/>
                    <a:p>
                      <a:r>
                        <a:rPr sz="1800">
                          <a:solidFill>
                            <a:srgbClr val="F5B942"/>
                          </a:solidFill>
                          <a:latin typeface="Arial"/>
                          <a:ea typeface="Arial"/>
                          <a:cs typeface="Arial"/>
                        </a:rPr>
                        <a:t>96ab4b8</a:t>
                      </a:r>
                    </a:p>
                  </a:txBody>
                  <a:tcPr marL="133350" marR="133350" marT="76200" marB="76200">
                    <a:solidFill>
                      <a:srgbClr val="101827"/>
                    </a:solidFill>
                  </a:tcPr>
                </a:tc>
              </a:tr>
              <a:tr h="463550">
                <a:tc>
                  <a:txBody>
                    <a:bodyPr/>
                    <a:lstStyle/>
                    <a:p>
                      <a:r>
                        <a:rPr sz="1800">
                          <a:solidFill>
                            <a:srgbClr val="F4F7FB"/>
                          </a:solidFill>
                          <a:latin typeface="Arial"/>
                          <a:ea typeface="Arial"/>
                          <a:cs typeface="Arial"/>
                        </a:rPr>
                        <a:t>Stage 2 isolated</a:t>
                      </a:r>
                    </a:p>
                  </a:txBody>
                  <a:tcPr marL="133350" marR="133350" marT="76200" marB="76200">
                    <a:solidFill>
                      <a:srgbClr val="101827"/>
                    </a:solidFill>
                  </a:tcPr>
                </a:tc>
                <a:tc>
                  <a:txBody>
                    <a:bodyPr/>
                    <a:lstStyle/>
                    <a:p>
                      <a:r>
                        <a:rPr sz="1800">
                          <a:solidFill>
                            <a:srgbClr val="F5B942"/>
                          </a:solidFill>
                          <a:latin typeface="Arial"/>
                          <a:ea typeface="Arial"/>
                          <a:cs typeface="Arial"/>
                        </a:rPr>
                        <a:t>PASS</a:t>
                      </a:r>
                    </a:p>
                  </a:txBody>
                  <a:tcPr marL="133350" marR="133350" marT="76200" marB="76200">
                    <a:solidFill>
                      <a:srgbClr val="101827"/>
                    </a:solidFill>
                  </a:tcPr>
                </a:tc>
                <a:tc>
                  <a:txBody>
                    <a:bodyPr/>
                    <a:lstStyle/>
                    <a:p>
                      <a:r>
                        <a:rPr sz="1800">
                          <a:solidFill>
                            <a:srgbClr val="F5B942"/>
                          </a:solidFill>
                          <a:latin typeface="Arial"/>
                          <a:ea typeface="Arial"/>
                          <a:cs typeface="Arial"/>
                        </a:rPr>
                        <a:t>96ab4b8</a:t>
                      </a:r>
                    </a:p>
                  </a:txBody>
                  <a:tcPr marL="133350" marR="133350" marT="76200" marB="76200">
                    <a:solidFill>
                      <a:srgbClr val="101827"/>
                    </a:solidFill>
                  </a:tcPr>
                </a:tc>
              </a:tr>
              <a:tr h="463550">
                <a:tc>
                  <a:txBody>
                    <a:bodyPr/>
                    <a:lstStyle/>
                    <a:p>
                      <a:r>
                        <a:rPr sz="1800">
                          <a:solidFill>
                            <a:srgbClr val="F4F7FB"/>
                          </a:solidFill>
                          <a:latin typeface="Arial"/>
                          <a:ea typeface="Arial"/>
                          <a:cs typeface="Arial"/>
                        </a:rPr>
                        <a:t>Stage 3 isolated</a:t>
                      </a:r>
                    </a:p>
                  </a:txBody>
                  <a:tcPr marL="133350" marR="133350" marT="76200" marB="76200">
                    <a:solidFill>
                      <a:srgbClr val="101827"/>
                    </a:solidFill>
                  </a:tcPr>
                </a:tc>
                <a:tc>
                  <a:txBody>
                    <a:bodyPr/>
                    <a:lstStyle/>
                    <a:p>
                      <a:r>
                        <a:rPr sz="1800">
                          <a:solidFill>
                            <a:srgbClr val="F5B942"/>
                          </a:solidFill>
                          <a:latin typeface="Arial"/>
                          <a:ea typeface="Arial"/>
                          <a:cs typeface="Arial"/>
                        </a:rPr>
                        <a:t>PASS</a:t>
                      </a:r>
                    </a:p>
                  </a:txBody>
                  <a:tcPr marL="133350" marR="133350" marT="76200" marB="76200">
                    <a:solidFill>
                      <a:srgbClr val="101827"/>
                    </a:solidFill>
                  </a:tcPr>
                </a:tc>
                <a:tc>
                  <a:txBody>
                    <a:bodyPr/>
                    <a:lstStyle/>
                    <a:p>
                      <a:r>
                        <a:rPr sz="1800">
                          <a:solidFill>
                            <a:srgbClr val="F5B942"/>
                          </a:solidFill>
                          <a:latin typeface="Arial"/>
                          <a:ea typeface="Arial"/>
                          <a:cs typeface="Arial"/>
                        </a:rPr>
                        <a:t>96ab4b8</a:t>
                      </a:r>
                    </a:p>
                  </a:txBody>
                  <a:tcPr marL="133350" marR="133350" marT="76200" marB="76200">
                    <a:solidFill>
                      <a:srgbClr val="101827"/>
                    </a:solidFill>
                  </a:tcPr>
                </a:tc>
              </a:tr>
              <a:tr h="463550">
                <a:tc>
                  <a:txBody>
                    <a:bodyPr/>
                    <a:lstStyle/>
                    <a:p>
                      <a:r>
                        <a:rPr sz="1800">
                          <a:solidFill>
                            <a:srgbClr val="F4F7FB"/>
                          </a:solidFill>
                          <a:latin typeface="Arial"/>
                          <a:ea typeface="Arial"/>
                          <a:cs typeface="Arial"/>
                        </a:rPr>
                        <a:t>Stage 4 isolated</a:t>
                      </a:r>
                    </a:p>
                  </a:txBody>
                  <a:tcPr marL="133350" marR="133350" marT="76200" marB="76200">
                    <a:solidFill>
                      <a:srgbClr val="101827"/>
                    </a:solidFill>
                  </a:tcPr>
                </a:tc>
                <a:tc>
                  <a:txBody>
                    <a:bodyPr/>
                    <a:lstStyle/>
                    <a:p>
                      <a:r>
                        <a:rPr sz="1800">
                          <a:solidFill>
                            <a:srgbClr val="F5B942"/>
                          </a:solidFill>
                          <a:latin typeface="Arial"/>
                          <a:ea typeface="Arial"/>
                          <a:cs typeface="Arial"/>
                        </a:rPr>
                        <a:t>PASS</a:t>
                      </a:r>
                    </a:p>
                  </a:txBody>
                  <a:tcPr marL="133350" marR="133350" marT="76200" marB="76200">
                    <a:solidFill>
                      <a:srgbClr val="101827"/>
                    </a:solidFill>
                  </a:tcPr>
                </a:tc>
                <a:tc>
                  <a:txBody>
                    <a:bodyPr/>
                    <a:lstStyle/>
                    <a:p>
                      <a:r>
                        <a:rPr sz="1800">
                          <a:solidFill>
                            <a:srgbClr val="F5B942"/>
                          </a:solidFill>
                          <a:latin typeface="Arial"/>
                          <a:ea typeface="Arial"/>
                          <a:cs typeface="Arial"/>
                        </a:rPr>
                        <a:t>96ab4b8</a:t>
                      </a:r>
                    </a:p>
                  </a:txBody>
                  <a:tcPr marL="133350" marR="133350" marT="76200" marB="76200">
                    <a:solidFill>
                      <a:srgbClr val="101827"/>
                    </a:solidFill>
                  </a:tcPr>
                </a:tc>
              </a:tr>
              <a:tr h="463550">
                <a:tc>
                  <a:txBody>
                    <a:bodyPr/>
                    <a:lstStyle/>
                    <a:p>
                      <a:r>
                        <a:rPr sz="1800">
                          <a:solidFill>
                            <a:srgbClr val="F4F7FB"/>
                          </a:solidFill>
                          <a:latin typeface="Arial"/>
                          <a:ea typeface="Arial"/>
                          <a:cs typeface="Arial"/>
                        </a:rPr>
                        <a:t>Offline: gates 1, 2 + mandates</a:t>
                      </a:r>
                    </a:p>
                  </a:txBody>
                  <a:tcPr marL="133350" marR="133350" marT="76200" marB="76200">
                    <a:solidFill>
                      <a:srgbClr val="101827"/>
                    </a:solidFill>
                  </a:tcPr>
                </a:tc>
                <a:tc>
                  <a:txBody>
                    <a:bodyPr/>
                    <a:lstStyle/>
                    <a:p>
                      <a:r>
                        <a:rPr sz="1800">
                          <a:solidFill>
                            <a:srgbClr val="F5B942"/>
                          </a:solidFill>
                          <a:latin typeface="Arial"/>
                          <a:ea typeface="Arial"/>
                          <a:cs typeface="Arial"/>
                        </a:rPr>
                        <a:t>exit 0</a:t>
                      </a:r>
                    </a:p>
                  </a:txBody>
                  <a:tcPr marL="133350" marR="133350" marT="76200" marB="76200">
                    <a:solidFill>
                      <a:srgbClr val="101827"/>
                    </a:solidFill>
                  </a:tcPr>
                </a:tc>
                <a:tc>
                  <a:txBody>
                    <a:bodyPr/>
                    <a:lstStyle/>
                    <a:p>
                      <a:r>
                        <a:rPr sz="1800">
                          <a:solidFill>
                            <a:srgbClr val="F5B942"/>
                          </a:solidFill>
                          <a:latin typeface="Arial"/>
                          <a:ea typeface="Arial"/>
                          <a:cs typeface="Arial"/>
                        </a:rPr>
                        <a:t>Package</a:t>
                      </a:r>
                    </a:p>
                  </a:txBody>
                  <a:tcPr marL="133350" marR="133350" marT="76200" marB="76200">
                    <a:solidFill>
                      <a:srgbClr val="101827"/>
                    </a:solidFill>
                  </a:tcPr>
                </a:tc>
              </a:tr>
            </a:tbl>
          </a:graphicData>
        </a:graphic>
      </p:graphicFrame>
      <p:sp>
        <p:nvSpPr>
          <p:cNvPr id="7" name="">
            <a:extLst xmlns:a="http://schemas.openxmlformats.org/drawingml/2006/main">
              <a:ext uri="{FF2B5EF4-FFF2-40B4-BE49-F238E27FC236}">
                <a16:creationId xmlns:a16="http://schemas.microsoft.com/office/drawing/2014/main" id="{A24AEEE8-77A2-406E-9562-0E464D0E84A1}"/>
              </a:ext>
            </a:extLst>
          </p:cNvPr>
          <p:cNvSpPr>
            <a:spLocks xmlns:a="http://schemas.openxmlformats.org/drawingml/2006/main" noGrp="1"/>
          </p:cNvSpPr>
          <p:nvPr/>
        </p:nvSpPr>
        <p:spPr>
          <a:xfrm xmlns:a="http://schemas.openxmlformats.org/drawingml/2006/main">
            <a:off x="609600" y="5238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800" b="0">
                <a:solidFill>
                  <a:srgbClr val="F5B942"/>
                </a:solidFill>
                <a:latin typeface="Arial"/>
                <a:ea typeface="Arial"/>
                <a:cs typeface="Arial"/>
              </a:rPr>
              <a:t>40h49 elapsed · includes quota waits and outages</a:t>
            </a:r>
          </a:p>
        </p:txBody>
      </p:sp>
      <p:sp>
        <p:nvSpPr>
          <p:cNvPr id="8" name="">
            <a:extLst xmlns:a="http://schemas.openxmlformats.org/drawingml/2006/main">
              <a:ext uri="{FF2B5EF4-FFF2-40B4-BE49-F238E27FC236}">
                <a16:creationId xmlns:a16="http://schemas.microsoft.com/office/drawing/2014/main" id="{B99D47EF-1CBB-4060-8916-E9BD41DD8E5E}"/>
              </a:ext>
            </a:extLst>
          </p:cNvPr>
          <p:cNvSpPr>
            <a:spLocks xmlns:a="http://schemas.openxmlformats.org/drawingml/2006/main" noGrp="1"/>
          </p:cNvSpPr>
          <p:nvPr/>
        </p:nvSpPr>
        <p:spPr>
          <a:xfrm xmlns:a="http://schemas.openxmlformats.org/drawingml/2006/main">
            <a:off x="609600" y="57531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725" b="0">
                <a:solidFill>
                  <a:srgbClr val="A5B3C6"/>
                </a:solidFill>
                <a:latin typeface="Arial"/>
                <a:ea typeface="Arial"/>
                <a:cs typeface="Arial"/>
              </a:rPr>
              <a:t>Public checks are partial; private evaluation remains unknown.</a:t>
            </a:r>
          </a:p>
        </p:txBody>
      </p:sp>
    </p:spTree>
    <p:extLst>
      <p:ext uri="{BB962C8B-B14F-4D97-AF65-F5344CB8AC3E}">
        <p14:creationId xmlns:p14="http://schemas.microsoft.com/office/powerpoint/2010/main" val="1935573898"/>
      </p:ext>
    </p:extLst>
  </p:cSld>
</p:sld>
</file>

<file path=ppt/slides/slide6.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15E2D4F-CB21-41B2-B186-8EA35B314571}"/>
              </a:ext>
            </a:extLst>
          </p:cNvPr>
          <p:cNvSpPr>
            <a:spLocks xmlns:a="http://schemas.openxmlformats.org/drawingml/2006/main" noGrp="1"/>
          </p:cNvSpPr>
          <p:nvPr/>
        </p:nvSpPr>
        <p:spPr>
          <a:xfrm xmlns:a="http://schemas.openxmlformats.org/drawingml/2006/main">
            <a:off x="609600" y="2476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200" b="1">
                <a:solidFill>
                  <a:srgbClr val="F5B942"/>
                </a:solidFill>
                <a:latin typeface="Arial"/>
                <a:ea typeface="Arial"/>
                <a:cs typeface="Arial"/>
              </a:rPr>
              <a:t>TABLEKEEPER · PROOFLINE FACTORY</a:t>
            </a:r>
          </a:p>
        </p:txBody>
      </p:sp>
      <p:sp>
        <p:nvSpPr>
          <p:cNvPr id="2" name="">
            <a:extLst xmlns:a="http://schemas.openxmlformats.org/drawingml/2006/main">
              <a:ext uri="{FF2B5EF4-FFF2-40B4-BE49-F238E27FC236}">
                <a16:creationId xmlns:a16="http://schemas.microsoft.com/office/drawing/2014/main" id="{D12FFE4B-CC00-4513-8A98-7CAE8B79243C}"/>
              </a:ext>
            </a:extLst>
          </p:cNvPr>
          <p:cNvSpPr>
            <a:spLocks xmlns:a="http://schemas.openxmlformats.org/drawingml/2006/main" noGrp="1"/>
          </p:cNvSpPr>
          <p:nvPr/>
        </p:nvSpPr>
        <p:spPr>
          <a:xfrm xmlns:a="http://schemas.openxmlformats.org/drawingml/2006/main">
            <a:off x="609600" y="8382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3450" b="1">
                <a:solidFill>
                  <a:srgbClr val="F4F7FB"/>
                </a:solidFill>
                <a:latin typeface="Arial"/>
                <a:ea typeface="Arial"/>
                <a:cs typeface="Arial"/>
              </a:rPr>
              <a:t>Reproducible source, transparent history</a:t>
            </a:r>
          </a:p>
        </p:txBody>
      </p:sp>
      <p:sp>
        <p:nvSpPr>
          <p:cNvPr id="3" name="">
            <a:extLst xmlns:a="http://schemas.openxmlformats.org/drawingml/2006/main">
              <a:ext uri="{FF2B5EF4-FFF2-40B4-BE49-F238E27FC236}">
                <a16:creationId xmlns:a16="http://schemas.microsoft.com/office/drawing/2014/main" id="{E2C1F805-C5A6-47DE-BA70-E87F5393EF94}"/>
              </a:ext>
            </a:extLst>
          </p:cNvPr>
          <p:cNvSpPr>
            <a:spLocks xmlns:a="http://schemas.openxmlformats.org/drawingml/2006/main" noGrp="1"/>
          </p:cNvSpPr>
          <p:nvPr/>
        </p:nvSpPr>
        <p:spPr>
          <a:xfrm xmlns:a="http://schemas.openxmlformats.org/drawingml/2006/main">
            <a:off x="609600" y="6210300"/>
            <a:ext cx="10972800" cy="19050"/>
          </a:xfrm>
          <a:prstGeom xmlns:a="http://schemas.openxmlformats.org/drawingml/2006/main" prst="rect">
            <a:avLst/>
          </a:prstGeom>
          <a:solidFill xmlns:a="http://schemas.openxmlformats.org/drawingml/2006/main">
            <a:srgbClr val="45536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F51B559-EAFF-42B5-84C2-C8C2669D12B2}"/>
              </a:ext>
            </a:extLst>
          </p:cNvPr>
          <p:cNvSpPr>
            <a:spLocks xmlns:a="http://schemas.openxmlformats.org/drawingml/2006/main" noGrp="1"/>
          </p:cNvSpPr>
          <p:nvPr/>
        </p:nvSpPr>
        <p:spPr>
          <a:xfrm xmlns:a="http://schemas.openxmlformats.org/drawingml/2006/main">
            <a:off x="609600" y="6343650"/>
            <a:ext cx="704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425" b="0">
                <a:solidFill>
                  <a:srgbClr val="A5B3C6"/>
                </a:solidFill>
                <a:latin typeface="Arial"/>
                <a:ea typeface="Arial"/>
                <a:cs typeface="Arial"/>
              </a:rPr>
              <a:t>Tablekeeper V2 · 06 / 06</a:t>
            </a:r>
          </a:p>
        </p:txBody>
      </p:sp>
      <p:sp>
        <p:nvSpPr>
          <p:cNvPr id="5" name="">
            <a:extLst xmlns:a="http://schemas.openxmlformats.org/drawingml/2006/main">
              <a:ext uri="{FF2B5EF4-FFF2-40B4-BE49-F238E27FC236}">
                <a16:creationId xmlns:a16="http://schemas.microsoft.com/office/drawing/2014/main" id="{9528C829-EB6C-459B-90B5-7F72CF6DB89B}"/>
              </a:ext>
            </a:extLst>
          </p:cNvPr>
          <p:cNvSpPr>
            <a:spLocks xmlns:a="http://schemas.openxmlformats.org/drawingml/2006/main" noGrp="1"/>
          </p:cNvSpPr>
          <p:nvPr/>
        </p:nvSpPr>
        <p:spPr>
          <a:xfrm xmlns:a="http://schemas.openxmlformats.org/drawingml/2006/main">
            <a:off x="10382250" y="6343650"/>
            <a:ext cx="1200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425" b="0">
                <a:solidFill>
                  <a:srgbClr val="A5B3C6"/>
                </a:solidFill>
                <a:latin typeface="Arial"/>
                <a:ea typeface="Arial"/>
                <a:cs typeface="Arial"/>
              </a:rPr>
              <a:t>96ab4b8</a:t>
            </a:r>
          </a:p>
        </p:txBody>
      </p:sp>
      <p:sp>
        <p:nvSpPr>
          <p:cNvPr id="6" name="">
            <a:extLst xmlns:a="http://schemas.openxmlformats.org/drawingml/2006/main">
              <a:ext uri="{FF2B5EF4-FFF2-40B4-BE49-F238E27FC236}">
                <a16:creationId xmlns:a16="http://schemas.microsoft.com/office/drawing/2014/main" id="{F68A9B1F-9EFF-4419-A4CD-3DBA1294EE0A}"/>
              </a:ext>
            </a:extLst>
          </p:cNvPr>
          <p:cNvSpPr>
            <a:spLocks xmlns:a="http://schemas.openxmlformats.org/drawingml/2006/main" noGrp="1"/>
          </p:cNvSpPr>
          <p:nvPr/>
        </p:nvSpPr>
        <p:spPr>
          <a:xfrm xmlns:a="http://schemas.openxmlformats.org/drawingml/2006/main">
            <a:off x="609600" y="225742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F4F7FB"/>
                </a:solidFill>
                <a:latin typeface="Arial"/>
                <a:ea typeface="Arial"/>
                <a:cs typeface="Arial"/>
              </a:defRPr>
            </a:pPr>
            <a:r>
              <a:rPr sz="2325" b="1">
                <a:solidFill>
                  <a:srgbClr val="F4F7FB"/>
                </a:solidFill>
                <a:latin typeface="Arial"/>
                <a:ea typeface="Arial"/>
                <a:cs typeface="Arial"/>
              </a:rPr>
              <a:t>Contract handoff</a:t>
            </a:r>
          </a:p>
        </p:txBody>
      </p:sp>
      <p:sp>
        <p:nvSpPr>
          <p:cNvPr id="7" name="">
            <a:extLst xmlns:a="http://schemas.openxmlformats.org/drawingml/2006/main">
              <a:ext uri="{FF2B5EF4-FFF2-40B4-BE49-F238E27FC236}">
                <a16:creationId xmlns:a16="http://schemas.microsoft.com/office/drawing/2014/main" id="{D6AA5C3E-96FA-420E-801E-067E5C8C8A22}"/>
              </a:ext>
            </a:extLst>
          </p:cNvPr>
          <p:cNvSpPr>
            <a:spLocks xmlns:a="http://schemas.openxmlformats.org/drawingml/2006/main" noGrp="1"/>
          </p:cNvSpPr>
          <p:nvPr/>
        </p:nvSpPr>
        <p:spPr>
          <a:xfrm xmlns:a="http://schemas.openxmlformats.org/drawingml/2006/main">
            <a:off x="609600" y="298132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F4F7FB"/>
                </a:solidFill>
                <a:latin typeface="Arial"/>
                <a:ea typeface="Arial"/>
                <a:cs typeface="Arial"/>
              </a:defRPr>
            </a:pPr>
            <a:r>
              <a:rPr sz="2325" b="1">
                <a:solidFill>
                  <a:srgbClr val="F4F7FB"/>
                </a:solidFill>
                <a:latin typeface="Arial"/>
                <a:ea typeface="Arial"/>
                <a:cs typeface="Arial"/>
              </a:rPr>
              <a:t>Stage preservation</a:t>
            </a:r>
          </a:p>
        </p:txBody>
      </p:sp>
      <p:sp>
        <p:nvSpPr>
          <p:cNvPr id="8" name="">
            <a:extLst xmlns:a="http://schemas.openxmlformats.org/drawingml/2006/main">
              <a:ext uri="{FF2B5EF4-FFF2-40B4-BE49-F238E27FC236}">
                <a16:creationId xmlns:a16="http://schemas.microsoft.com/office/drawing/2014/main" id="{0267A587-2C4B-4DED-B945-44562EE64DFC}"/>
              </a:ext>
            </a:extLst>
          </p:cNvPr>
          <p:cNvSpPr>
            <a:spLocks xmlns:a="http://schemas.openxmlformats.org/drawingml/2006/main" noGrp="1"/>
          </p:cNvSpPr>
          <p:nvPr/>
        </p:nvSpPr>
        <p:spPr>
          <a:xfrm xmlns:a="http://schemas.openxmlformats.org/drawingml/2006/main">
            <a:off x="609600" y="3705225"/>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F4F7FB"/>
                </a:solidFill>
                <a:latin typeface="Arial"/>
                <a:ea typeface="Arial"/>
                <a:cs typeface="Arial"/>
              </a:defRPr>
            </a:pPr>
            <a:r>
              <a:rPr sz="2325" b="1">
                <a:solidFill>
                  <a:srgbClr val="F4F7FB"/>
                </a:solidFill>
                <a:latin typeface="Arial"/>
                <a:ea typeface="Arial"/>
                <a:cs typeface="Arial"/>
              </a:rPr>
              <a:t>Independent revision review</a:t>
            </a:r>
          </a:p>
        </p:txBody>
      </p:sp>
      <p:sp>
        <p:nvSpPr>
          <p:cNvPr id="9" name="">
            <a:extLst xmlns:a="http://schemas.openxmlformats.org/drawingml/2006/main">
              <a:ext uri="{FF2B5EF4-FFF2-40B4-BE49-F238E27FC236}">
                <a16:creationId xmlns:a16="http://schemas.microsoft.com/office/drawing/2014/main" id="{B163CB46-3465-42A4-8185-B4722B127F2F}"/>
              </a:ext>
            </a:extLst>
          </p:cNvPr>
          <p:cNvSpPr>
            <a:spLocks xmlns:a="http://schemas.openxmlformats.org/drawingml/2006/main" noGrp="1"/>
          </p:cNvSpPr>
          <p:nvPr/>
        </p:nvSpPr>
        <p:spPr>
          <a:xfrm xmlns:a="http://schemas.openxmlformats.org/drawingml/2006/main">
            <a:off x="6267450" y="2219325"/>
            <a:ext cx="5314950" cy="19050"/>
          </a:xfrm>
          <a:prstGeom xmlns:a="http://schemas.openxmlformats.org/drawingml/2006/main" prst="rect">
            <a:avLst/>
          </a:prstGeom>
          <a:solidFill xmlns:a="http://schemas.openxmlformats.org/drawingml/2006/main">
            <a:srgbClr val="45536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EBC8B10-14A6-4023-BFC9-6340BCE11456}"/>
              </a:ext>
            </a:extLst>
          </p:cNvPr>
          <p:cNvSpPr>
            <a:spLocks xmlns:a="http://schemas.openxmlformats.org/drawingml/2006/main" noGrp="1"/>
          </p:cNvSpPr>
          <p:nvPr/>
        </p:nvSpPr>
        <p:spPr>
          <a:xfrm xmlns:a="http://schemas.openxmlformats.org/drawingml/2006/main">
            <a:off x="6496050" y="2524125"/>
            <a:ext cx="4810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2175" b="1">
                <a:solidFill>
                  <a:srgbClr val="F4F7FB"/>
                </a:solidFill>
                <a:latin typeface="Arial"/>
                <a:ea typeface="Arial"/>
                <a:cs typeface="Arial"/>
              </a:rPr>
              <a:t>Accepted local result</a:t>
            </a:r>
          </a:p>
        </p:txBody>
      </p:sp>
      <p:sp>
        <p:nvSpPr>
          <p:cNvPr id="11" name="">
            <a:extLst xmlns:a="http://schemas.openxmlformats.org/drawingml/2006/main">
              <a:ext uri="{FF2B5EF4-FFF2-40B4-BE49-F238E27FC236}">
                <a16:creationId xmlns:a16="http://schemas.microsoft.com/office/drawing/2014/main" id="{CFFDE4D0-54A3-40A8-8692-1B4BBE457F1B}"/>
              </a:ext>
            </a:extLst>
          </p:cNvPr>
          <p:cNvSpPr>
            <a:spLocks xmlns:a="http://schemas.openxmlformats.org/drawingml/2006/main" noGrp="1"/>
          </p:cNvSpPr>
          <p:nvPr/>
        </p:nvSpPr>
        <p:spPr>
          <a:xfrm xmlns:a="http://schemas.openxmlformats.org/drawingml/2006/main">
            <a:off x="6496050" y="3124200"/>
            <a:ext cx="4810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3600" b="1">
                <a:solidFill>
                  <a:srgbClr val="F5B942"/>
                </a:solidFill>
                <a:latin typeface="Arial"/>
                <a:ea typeface="Arial"/>
                <a:cs typeface="Arial"/>
              </a:rPr>
              <a:t>4 stages</a:t>
            </a:r>
          </a:p>
        </p:txBody>
      </p:sp>
      <p:sp>
        <p:nvSpPr>
          <p:cNvPr id="12" name="">
            <a:extLst xmlns:a="http://schemas.openxmlformats.org/drawingml/2006/main">
              <a:ext uri="{FF2B5EF4-FFF2-40B4-BE49-F238E27FC236}">
                <a16:creationId xmlns:a16="http://schemas.microsoft.com/office/drawing/2014/main" id="{E9CF817D-6902-4AEF-920B-CD1126B56BC2}"/>
              </a:ext>
            </a:extLst>
          </p:cNvPr>
          <p:cNvSpPr>
            <a:spLocks xmlns:a="http://schemas.openxmlformats.org/drawingml/2006/main" noGrp="1"/>
          </p:cNvSpPr>
          <p:nvPr/>
        </p:nvSpPr>
        <p:spPr>
          <a:xfrm xmlns:a="http://schemas.openxmlformats.org/drawingml/2006/main">
            <a:off x="6496050" y="4152900"/>
            <a:ext cx="4857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650" b="0">
                <a:solidFill>
                  <a:srgbClr val="A5B3C6"/>
                </a:solidFill>
                <a:latin typeface="Arial"/>
                <a:ea typeface="Arial"/>
                <a:cs typeface="Arial"/>
              </a:rPr>
              <a:t>Recovery between stages and during stage 4</a:t>
            </a:r>
          </a:p>
          <a:p xmlns:a="http://schemas.openxmlformats.org/drawingml/2006/main">
            <a:r>
              <a:rPr sz="1650" b="0">
                <a:solidFill>
                  <a:srgbClr val="A5B3C6"/>
                </a:solidFill>
                <a:latin typeface="Arial"/>
                <a:ea typeface="Arial"/>
                <a:cs typeface="Arial"/>
              </a:rPr>
              <a:t>Same agents and threads; one human notice</a:t>
            </a:r>
          </a:p>
          <a:p xmlns:a="http://schemas.openxmlformats.org/drawingml/2006/main">
            <a:r>
              <a:rPr sz="1650" b="0">
                <a:solidFill>
                  <a:srgbClr val="A5B3C6"/>
                </a:solidFill>
                <a:latin typeface="Arial"/>
                <a:ea typeface="Arial"/>
                <a:cs typeface="Arial"/>
              </a:rPr>
              <a:t>No operator production-code edits</a:t>
            </a:r>
          </a:p>
        </p:txBody>
      </p:sp>
      <p:sp>
        <p:nvSpPr>
          <p:cNvPr id="13" name="">
            <a:extLst xmlns:a="http://schemas.openxmlformats.org/drawingml/2006/main">
              <a:ext uri="{FF2B5EF4-FFF2-40B4-BE49-F238E27FC236}">
                <a16:creationId xmlns:a16="http://schemas.microsoft.com/office/drawing/2014/main" id="{93DFCDAD-16A7-46B3-BEEE-32781B8373B9}"/>
              </a:ext>
            </a:extLst>
          </p:cNvPr>
          <p:cNvSpPr>
            <a:spLocks xmlns:a="http://schemas.openxmlformats.org/drawingml/2006/main" noGrp="1"/>
          </p:cNvSpPr>
          <p:nvPr/>
        </p:nvSpPr>
        <p:spPr>
          <a:xfrm xmlns:a="http://schemas.openxmlformats.org/drawingml/2006/main">
            <a:off x="609600" y="57531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725" b="0">
                <a:solidFill>
                  <a:srgbClr val="A5B3C6"/>
                </a:solidFill>
                <a:latin typeface="Arial"/>
                <a:ea typeface="Arial"/>
                <a:cs typeface="Arial"/>
              </a:rPr>
              <a:t>Original history preserved; uninterrupted autonomy is not claimed.</a:t>
            </a:r>
          </a:p>
        </p:txBody>
      </p:sp>
    </p:spTree>
    <p:extLst>
      <p:ext uri="{BB962C8B-B14F-4D97-AF65-F5344CB8AC3E}">
        <p14:creationId xmlns:p14="http://schemas.microsoft.com/office/powerpoint/2010/main" val="16846007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2026-10-01T23:27:58.2580000Z</dcterms:created>
  <dcterms:modified xsi:type="dcterms:W3CDTF">2026-10-01T23:27:58.2590000Z</dcterms:modified>
</coreProperties>
</file>